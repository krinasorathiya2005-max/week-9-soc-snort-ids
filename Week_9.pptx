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BD3FF"/>
          </a:solidFill>
          <a:ln>
            <a:solidFill>
              <a:srgbClr val="2BD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789920" y="228600"/>
            <a:ext cx="1005840" cy="73152"/>
          </a:xfrm>
          <a:prstGeom prst="roundRect">
            <a:avLst/>
          </a:prstGeom>
          <a:solidFill>
            <a:srgbClr val="2BD3FF"/>
          </a:solidFill>
          <a:ln>
            <a:solidFill>
              <a:srgbClr val="2BD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1109960" y="384048"/>
            <a:ext cx="685800" cy="45720"/>
          </a:xfrm>
          <a:prstGeom prst="roundRect">
            <a:avLst/>
          </a:prstGeom>
          <a:solidFill>
            <a:srgbClr val="9D5CFF"/>
          </a:solidFill>
          <a:ln>
            <a:solidFill>
              <a:srgbClr val="9D5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25880"/>
            <a:ext cx="7223760" cy="4069080"/>
          </a:xfrm>
          <a:prstGeom prst="roundRect">
            <a:avLst/>
          </a:prstGeom>
          <a:solidFill>
            <a:srgbClr val="161F37"/>
          </a:solidFill>
          <a:ln>
            <a:solidFill>
              <a:srgbClr val="161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60120" y="1664208"/>
            <a:ext cx="1920240" cy="310896"/>
          </a:xfrm>
          <a:prstGeom prst="roundRect">
            <a:avLst/>
          </a:prstGeom>
          <a:solidFill>
            <a:srgbClr val="2BD3FF"/>
          </a:solidFill>
          <a:ln>
            <a:solidFill>
              <a:srgbClr val="2BD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96696" y="1709928"/>
            <a:ext cx="1847088" cy="182880"/>
          </a:xfrm>
          <a:prstGeom prst="rect">
            <a:avLst/>
          </a:prstGeom>
          <a:noFill/>
        </p:spPr>
        <p:txBody>
          <a:bodyPr wrap="none" lIns="36576" rIns="36576" tIns="27432" bIns="27432" anchor="t">
            <a:spAutoFit/>
          </a:bodyPr>
          <a:lstStyle/>
          <a:p>
            <a:pPr algn="ctr"/>
            <a:r>
              <a:rPr sz="1050" b="1">
                <a:solidFill>
                  <a:srgbClr val="0A0F1E"/>
                </a:solidFill>
                <a:latin typeface="Aptos"/>
              </a:rPr>
              <a:t>WEEK 09  •  SOC MODULE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2148840"/>
            <a:ext cx="6309360" cy="1280160"/>
          </a:xfrm>
          <a:prstGeom prst="rect">
            <a:avLst/>
          </a:prstGeom>
          <a:noFill/>
        </p:spPr>
        <p:txBody>
          <a:bodyPr wrap="none" lIns="36576" rIns="36576" tIns="27432" bIns="27432" anchor="t">
            <a:spAutoFit/>
          </a:bodyPr>
          <a:lstStyle/>
          <a:p>
            <a:pPr algn="l"/>
            <a:r>
              <a:rPr sz="3400" b="1">
                <a:solidFill>
                  <a:srgbClr val="F5F8FF"/>
                </a:solidFill>
                <a:latin typeface="Aptos"/>
              </a:rPr>
              <a:t>SOC Introduction
&amp; Snort IDS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87552" y="3611880"/>
            <a:ext cx="6035040" cy="548640"/>
          </a:xfrm>
          <a:prstGeom prst="rect">
            <a:avLst/>
          </a:prstGeom>
          <a:noFill/>
        </p:spPr>
        <p:txBody>
          <a:bodyPr wrap="none" lIns="36576" rIns="36576" tIns="27432" bIns="27432" anchor="t">
            <a:spAutoFit/>
          </a:bodyPr>
          <a:lstStyle/>
          <a:p>
            <a:pPr algn="l"/>
            <a:r>
              <a:rPr sz="1500" b="0">
                <a:solidFill>
                  <a:srgbClr val="AAB7CF"/>
                </a:solidFill>
                <a:latin typeface="Aptos"/>
              </a:rPr>
              <a:t>Linux-based monitoring lab • Custom detection rules • Traffic testing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87552" y="4343400"/>
            <a:ext cx="4114800" cy="365760"/>
          </a:xfrm>
          <a:prstGeom prst="rect">
            <a:avLst/>
          </a:prstGeom>
          <a:noFill/>
        </p:spPr>
        <p:txBody>
          <a:bodyPr wrap="none" lIns="36576" rIns="36576" tIns="27432" bIns="27432" anchor="t">
            <a:spAutoFit/>
          </a:bodyPr>
          <a:lstStyle/>
          <a:p>
            <a:pPr algn="l"/>
            <a:r>
              <a:rPr sz="1600" b="1">
                <a:solidFill>
                  <a:srgbClr val="2BD3FF"/>
                </a:solidFill>
                <a:latin typeface="Aptos"/>
              </a:rPr>
              <a:t>Security Operations Center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366760" y="1417320"/>
            <a:ext cx="2651760" cy="960120"/>
          </a:xfrm>
          <a:prstGeom prst="roundRect">
            <a:avLst/>
          </a:prstGeom>
          <a:solidFill>
            <a:srgbClr val="1B2642"/>
          </a:solidFill>
          <a:ln>
            <a:solidFill>
              <a:srgbClr val="2BD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595360" y="1664208"/>
            <a:ext cx="2148840" cy="365760"/>
          </a:xfrm>
          <a:prstGeom prst="rect">
            <a:avLst/>
          </a:prstGeom>
          <a:noFill/>
        </p:spPr>
        <p:txBody>
          <a:bodyPr wrap="none" lIns="36576" rIns="36576" tIns="27432" bIns="27432" anchor="t">
            <a:spAutoFit/>
          </a:bodyPr>
          <a:lstStyle/>
          <a:p>
            <a:pPr algn="ctr"/>
            <a:r>
              <a:rPr sz="2200" b="1">
                <a:solidFill>
                  <a:srgbClr val="2BD3FF"/>
                </a:solidFill>
                <a:latin typeface="Aptos"/>
              </a:rPr>
              <a:t>SOC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9692640" y="2377440"/>
            <a:ext cx="0" cy="393192"/>
          </a:xfrm>
          <a:prstGeom prst="line">
            <a:avLst/>
          </a:prstGeom>
          <a:ln w="25400">
            <a:solidFill>
              <a:srgbClr val="AAB7C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8366760" y="2834640"/>
            <a:ext cx="2651760" cy="960120"/>
          </a:xfrm>
          <a:prstGeom prst="roundRect">
            <a:avLst/>
          </a:prstGeom>
          <a:solidFill>
            <a:srgbClr val="1B2642"/>
          </a:solidFill>
          <a:ln>
            <a:solidFill>
              <a:srgbClr val="9D5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595360" y="3081528"/>
            <a:ext cx="2148840" cy="365760"/>
          </a:xfrm>
          <a:prstGeom prst="rect">
            <a:avLst/>
          </a:prstGeom>
          <a:noFill/>
        </p:spPr>
        <p:txBody>
          <a:bodyPr wrap="none" lIns="36576" rIns="36576" tIns="27432" bIns="27432" anchor="t">
            <a:spAutoFit/>
          </a:bodyPr>
          <a:lstStyle/>
          <a:p>
            <a:pPr algn="ctr"/>
            <a:r>
              <a:rPr sz="2200" b="1">
                <a:solidFill>
                  <a:srgbClr val="9D5CFF"/>
                </a:solidFill>
                <a:latin typeface="Aptos"/>
              </a:rPr>
              <a:t>IDS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9692640" y="3794760"/>
            <a:ext cx="0" cy="393192"/>
          </a:xfrm>
          <a:prstGeom prst="line">
            <a:avLst/>
          </a:prstGeom>
          <a:ln w="25400">
            <a:solidFill>
              <a:srgbClr val="AAB7C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8366760" y="4251960"/>
            <a:ext cx="2651760" cy="960120"/>
          </a:xfrm>
          <a:prstGeom prst="roundRect">
            <a:avLst/>
          </a:prstGeom>
          <a:solidFill>
            <a:srgbClr val="1B2642"/>
          </a:solidFill>
          <a:ln>
            <a:solidFill>
              <a:srgbClr val="FF52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595360" y="4498848"/>
            <a:ext cx="2148840" cy="365760"/>
          </a:xfrm>
          <a:prstGeom prst="rect">
            <a:avLst/>
          </a:prstGeom>
          <a:noFill/>
        </p:spPr>
        <p:txBody>
          <a:bodyPr wrap="none" lIns="36576" rIns="36576" tIns="27432" bIns="27432" anchor="t">
            <a:spAutoFit/>
          </a:bodyPr>
          <a:lstStyle/>
          <a:p>
            <a:pPr algn="ctr"/>
            <a:r>
              <a:rPr sz="2200" b="1">
                <a:solidFill>
                  <a:srgbClr val="FF5299"/>
                </a:solidFill>
                <a:latin typeface="Aptos"/>
              </a:rPr>
              <a:t>ALERT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87552" y="5897880"/>
            <a:ext cx="5029200" cy="274320"/>
          </a:xfrm>
          <a:prstGeom prst="rect">
            <a:avLst/>
          </a:prstGeom>
          <a:noFill/>
        </p:spPr>
        <p:txBody>
          <a:bodyPr wrap="none" lIns="36576" rIns="36576" tIns="27432" bIns="27432" anchor="t">
            <a:spAutoFit/>
          </a:bodyPr>
          <a:lstStyle/>
          <a:p>
            <a:pPr algn="l"/>
            <a:r>
              <a:rPr sz="1050" b="0">
                <a:solidFill>
                  <a:srgbClr val="AAB7CF"/>
                </a:solidFill>
                <a:latin typeface="Aptos"/>
              </a:rPr>
              <a:t>Prepared for Cyber Security Internship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BD3FF"/>
          </a:solidFill>
          <a:ln>
            <a:solidFill>
              <a:srgbClr val="2BD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789920" y="228600"/>
            <a:ext cx="1005840" cy="73152"/>
          </a:xfrm>
          <a:prstGeom prst="roundRect">
            <a:avLst/>
          </a:prstGeom>
          <a:solidFill>
            <a:srgbClr val="2BD3FF"/>
          </a:solidFill>
          <a:ln>
            <a:solidFill>
              <a:srgbClr val="2BD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1109960" y="384048"/>
            <a:ext cx="685800" cy="45720"/>
          </a:xfrm>
          <a:prstGeom prst="roundRect">
            <a:avLst/>
          </a:prstGeom>
          <a:solidFill>
            <a:srgbClr val="9D5CFF"/>
          </a:solidFill>
          <a:ln>
            <a:solidFill>
              <a:srgbClr val="9D5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347472"/>
            <a:ext cx="9144000" cy="502920"/>
          </a:xfrm>
          <a:prstGeom prst="rect">
            <a:avLst/>
          </a:prstGeom>
          <a:noFill/>
        </p:spPr>
        <p:txBody>
          <a:bodyPr wrap="none" lIns="36576" rIns="36576" tIns="27432" bIns="27432" anchor="t">
            <a:spAutoFit/>
          </a:bodyPr>
          <a:lstStyle/>
          <a:p>
            <a:pPr algn="l"/>
            <a:r>
              <a:rPr sz="2700" b="1">
                <a:solidFill>
                  <a:srgbClr val="F5F8FF"/>
                </a:solidFill>
                <a:latin typeface="Aptos"/>
              </a:rPr>
              <a:t>SOC Fundamentals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896112"/>
            <a:ext cx="10515600" cy="347472"/>
          </a:xfrm>
          <a:prstGeom prst="rect">
            <a:avLst/>
          </a:prstGeom>
          <a:noFill/>
        </p:spPr>
        <p:txBody>
          <a:bodyPr wrap="none" lIns="36576" rIns="36576" tIns="27432" bIns="27432" anchor="t">
            <a:spAutoFit/>
          </a:bodyPr>
          <a:lstStyle/>
          <a:p>
            <a:pPr algn="l"/>
            <a:r>
              <a:rPr sz="1150" b="0">
                <a:solidFill>
                  <a:srgbClr val="AAB7CF"/>
                </a:solidFill>
                <a:latin typeface="Aptos"/>
              </a:rPr>
              <a:t>What a Security Operations Center does and how analysts work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09960" y="6355080"/>
            <a:ext cx="502920" cy="228600"/>
          </a:xfrm>
          <a:prstGeom prst="rect">
            <a:avLst/>
          </a:prstGeom>
          <a:noFill/>
        </p:spPr>
        <p:txBody>
          <a:bodyPr wrap="none" lIns="36576" rIns="36576" tIns="27432" bIns="27432" anchor="t">
            <a:spAutoFit/>
          </a:bodyPr>
          <a:lstStyle/>
          <a:p>
            <a:pPr algn="r"/>
            <a:r>
              <a:rPr sz="1000" b="1">
                <a:solidFill>
                  <a:srgbClr val="AAB7CF"/>
                </a:solidFill>
                <a:latin typeface="Aptos"/>
              </a:rPr>
              <a:t>02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1325880"/>
            <a:ext cx="5349240" cy="438912"/>
          </a:xfrm>
          <a:prstGeom prst="roundRect">
            <a:avLst/>
          </a:prstGeom>
          <a:solidFill>
            <a:srgbClr val="1B2642"/>
          </a:solidFill>
          <a:ln>
            <a:solidFill>
              <a:srgbClr val="1B26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94360" y="1325880"/>
            <a:ext cx="64008" cy="438912"/>
          </a:xfrm>
          <a:prstGeom prst="roundRect">
            <a:avLst/>
          </a:prstGeom>
          <a:solidFill>
            <a:srgbClr val="2BD3FF"/>
          </a:solidFill>
          <a:ln>
            <a:solidFill>
              <a:srgbClr val="2BD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58952" y="1389888"/>
            <a:ext cx="5120640" cy="256032"/>
          </a:xfrm>
          <a:prstGeom prst="rect">
            <a:avLst/>
          </a:prstGeom>
          <a:noFill/>
        </p:spPr>
        <p:txBody>
          <a:bodyPr wrap="none" lIns="36576" rIns="36576" tIns="27432" bIns="27432" anchor="t">
            <a:spAutoFit/>
          </a:bodyPr>
          <a:lstStyle/>
          <a:p>
            <a:pPr algn="l"/>
            <a:r>
              <a:rPr sz="1400" b="1">
                <a:solidFill>
                  <a:srgbClr val="F5F8FF"/>
                </a:solidFill>
                <a:latin typeface="Aptos"/>
              </a:rPr>
              <a:t>SOC = Central Security Monitoring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8" y="1920240"/>
            <a:ext cx="4800600" cy="1143000"/>
          </a:xfrm>
          <a:prstGeom prst="rect">
            <a:avLst/>
          </a:prstGeom>
          <a:noFill/>
        </p:spPr>
        <p:txBody>
          <a:bodyPr wrap="none" lIns="36576" rIns="36576" tIns="27432" bIns="27432" anchor="t">
            <a:spAutoFit/>
          </a:bodyPr>
          <a:lstStyle/>
          <a:p>
            <a:pPr algn="l"/>
            <a:r>
              <a:rPr sz="1700" b="0">
                <a:solidFill>
                  <a:srgbClr val="F5F8FF"/>
                </a:solidFill>
                <a:latin typeface="Aptos"/>
              </a:rPr>
              <a:t>A SOC continuously monitors security events, investigates suspicious activity, validates alerts and supports incident response.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68680" y="3337560"/>
            <a:ext cx="1097280" cy="310896"/>
          </a:xfrm>
          <a:prstGeom prst="roundRect">
            <a:avLst/>
          </a:prstGeom>
          <a:solidFill>
            <a:srgbClr val="2BD3FF"/>
          </a:solidFill>
          <a:ln>
            <a:solidFill>
              <a:srgbClr val="2BD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05256" y="3383279"/>
            <a:ext cx="1024127" cy="182880"/>
          </a:xfrm>
          <a:prstGeom prst="rect">
            <a:avLst/>
          </a:prstGeom>
          <a:noFill/>
        </p:spPr>
        <p:txBody>
          <a:bodyPr wrap="none" lIns="36576" rIns="36576" tIns="27432" bIns="27432" anchor="t">
            <a:spAutoFit/>
          </a:bodyPr>
          <a:lstStyle/>
          <a:p>
            <a:pPr algn="ctr"/>
            <a:r>
              <a:rPr sz="1050" b="1">
                <a:solidFill>
                  <a:srgbClr val="0A0F1E"/>
                </a:solidFill>
                <a:latin typeface="Aptos"/>
              </a:rPr>
              <a:t>DETECT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148840" y="3337560"/>
            <a:ext cx="1234440" cy="310896"/>
          </a:xfrm>
          <a:prstGeom prst="roundRect">
            <a:avLst/>
          </a:prstGeom>
          <a:solidFill>
            <a:srgbClr val="9D5CFF"/>
          </a:solidFill>
          <a:ln>
            <a:solidFill>
              <a:srgbClr val="9D5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185416" y="3383279"/>
            <a:ext cx="1161288" cy="182880"/>
          </a:xfrm>
          <a:prstGeom prst="rect">
            <a:avLst/>
          </a:prstGeom>
          <a:noFill/>
        </p:spPr>
        <p:txBody>
          <a:bodyPr wrap="none" lIns="36576" rIns="36576" tIns="27432" bIns="27432" anchor="t">
            <a:spAutoFit/>
          </a:bodyPr>
          <a:lstStyle/>
          <a:p>
            <a:pPr algn="ctr"/>
            <a:r>
              <a:rPr sz="1050" b="1">
                <a:solidFill>
                  <a:srgbClr val="0A0F1E"/>
                </a:solidFill>
                <a:latin typeface="Aptos"/>
              </a:rPr>
              <a:t>ANALYZE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566160" y="3337560"/>
            <a:ext cx="1188720" cy="310896"/>
          </a:xfrm>
          <a:prstGeom prst="roundRect">
            <a:avLst/>
          </a:prstGeom>
          <a:solidFill>
            <a:srgbClr val="FF5299"/>
          </a:solidFill>
          <a:ln>
            <a:solidFill>
              <a:srgbClr val="FF52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602736" y="3383279"/>
            <a:ext cx="1115568" cy="182880"/>
          </a:xfrm>
          <a:prstGeom prst="rect">
            <a:avLst/>
          </a:prstGeom>
          <a:noFill/>
        </p:spPr>
        <p:txBody>
          <a:bodyPr wrap="none" lIns="36576" rIns="36576" tIns="27432" bIns="27432" anchor="t">
            <a:spAutoFit/>
          </a:bodyPr>
          <a:lstStyle/>
          <a:p>
            <a:pPr algn="ctr"/>
            <a:r>
              <a:rPr sz="1050" b="1">
                <a:solidFill>
                  <a:srgbClr val="0A0F1E"/>
                </a:solidFill>
                <a:latin typeface="Aptos"/>
              </a:rPr>
              <a:t>RESPOND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72200" y="1325880"/>
            <a:ext cx="5394960" cy="438912"/>
          </a:xfrm>
          <a:prstGeom prst="roundRect">
            <a:avLst/>
          </a:prstGeom>
          <a:solidFill>
            <a:srgbClr val="1B2642"/>
          </a:solidFill>
          <a:ln>
            <a:solidFill>
              <a:srgbClr val="1B26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172200" y="1325880"/>
            <a:ext cx="64008" cy="438912"/>
          </a:xfrm>
          <a:prstGeom prst="roundRect">
            <a:avLst/>
          </a:prstGeom>
          <a:solidFill>
            <a:srgbClr val="9D5CFF"/>
          </a:solidFill>
          <a:ln>
            <a:solidFill>
              <a:srgbClr val="9D5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36792" y="1389888"/>
            <a:ext cx="5166360" cy="256032"/>
          </a:xfrm>
          <a:prstGeom prst="rect">
            <a:avLst/>
          </a:prstGeom>
          <a:noFill/>
        </p:spPr>
        <p:txBody>
          <a:bodyPr wrap="none" lIns="36576" rIns="36576" tIns="27432" bIns="27432" anchor="t">
            <a:spAutoFit/>
          </a:bodyPr>
          <a:lstStyle/>
          <a:p>
            <a:pPr algn="l"/>
            <a:r>
              <a:rPr sz="1400" b="1">
                <a:solidFill>
                  <a:srgbClr val="F5F8FF"/>
                </a:solidFill>
                <a:latin typeface="Aptos"/>
              </a:rPr>
              <a:t>Analyst Levels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46520" y="1901952"/>
            <a:ext cx="640080" cy="594360"/>
          </a:xfrm>
          <a:prstGeom prst="roundRect">
            <a:avLst/>
          </a:prstGeom>
          <a:solidFill>
            <a:srgbClr val="2BD3FF"/>
          </a:solidFill>
          <a:ln>
            <a:solidFill>
              <a:srgbClr val="2BD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2039112"/>
            <a:ext cx="640080" cy="228600"/>
          </a:xfrm>
          <a:prstGeom prst="rect">
            <a:avLst/>
          </a:prstGeom>
          <a:noFill/>
        </p:spPr>
        <p:txBody>
          <a:bodyPr wrap="none" lIns="36576" rIns="36576" tIns="27432" bIns="27432" anchor="t">
            <a:spAutoFit/>
          </a:bodyPr>
          <a:lstStyle/>
          <a:p>
            <a:pPr algn="ctr"/>
            <a:r>
              <a:rPr sz="1600" b="1">
                <a:solidFill>
                  <a:srgbClr val="0A0F1E"/>
                </a:solidFill>
                <a:latin typeface="Aptos"/>
              </a:rPr>
              <a:t>L1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269480" y="2011680"/>
            <a:ext cx="3749039" cy="347472"/>
          </a:xfrm>
          <a:prstGeom prst="rect">
            <a:avLst/>
          </a:prstGeom>
          <a:noFill/>
        </p:spPr>
        <p:txBody>
          <a:bodyPr wrap="none" lIns="36576" rIns="36576" tIns="27432" bIns="27432" anchor="t">
            <a:spAutoFit/>
          </a:bodyPr>
          <a:lstStyle/>
          <a:p>
            <a:pPr algn="l"/>
            <a:r>
              <a:rPr sz="1400" b="1">
                <a:solidFill>
                  <a:srgbClr val="F5F8FF"/>
                </a:solidFill>
                <a:latin typeface="Aptos"/>
              </a:rPr>
              <a:t>Alert triage • validate • escalate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269480" y="2331720"/>
            <a:ext cx="2926080" cy="201168"/>
          </a:xfrm>
          <a:prstGeom prst="rect">
            <a:avLst/>
          </a:prstGeom>
          <a:noFill/>
        </p:spPr>
        <p:txBody>
          <a:bodyPr wrap="none" lIns="36576" rIns="36576" tIns="27432" bIns="27432" anchor="t">
            <a:spAutoFit/>
          </a:bodyPr>
          <a:lstStyle/>
          <a:p>
            <a:pPr algn="l"/>
            <a:r>
              <a:rPr sz="1050" b="0">
                <a:solidFill>
                  <a:srgbClr val="AAB7CF"/>
                </a:solidFill>
                <a:latin typeface="Aptos"/>
              </a:rPr>
              <a:t>First look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46520" y="2862072"/>
            <a:ext cx="640080" cy="594360"/>
          </a:xfrm>
          <a:prstGeom prst="roundRect">
            <a:avLst/>
          </a:prstGeom>
          <a:solidFill>
            <a:srgbClr val="9D5CFF"/>
          </a:solidFill>
          <a:ln>
            <a:solidFill>
              <a:srgbClr val="9D5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46520" y="2999232"/>
            <a:ext cx="640080" cy="228600"/>
          </a:xfrm>
          <a:prstGeom prst="rect">
            <a:avLst/>
          </a:prstGeom>
          <a:noFill/>
        </p:spPr>
        <p:txBody>
          <a:bodyPr wrap="none" lIns="36576" rIns="36576" tIns="27432" bIns="27432" anchor="t">
            <a:spAutoFit/>
          </a:bodyPr>
          <a:lstStyle/>
          <a:p>
            <a:pPr algn="ctr"/>
            <a:r>
              <a:rPr sz="1600" b="1">
                <a:solidFill>
                  <a:srgbClr val="0A0F1E"/>
                </a:solidFill>
                <a:latin typeface="Aptos"/>
              </a:rPr>
              <a:t>L2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269480" y="2971800"/>
            <a:ext cx="3749039" cy="347472"/>
          </a:xfrm>
          <a:prstGeom prst="rect">
            <a:avLst/>
          </a:prstGeom>
          <a:noFill/>
        </p:spPr>
        <p:txBody>
          <a:bodyPr wrap="none" lIns="36576" rIns="36576" tIns="27432" bIns="27432" anchor="t">
            <a:spAutoFit/>
          </a:bodyPr>
          <a:lstStyle/>
          <a:p>
            <a:pPr algn="l"/>
            <a:r>
              <a:rPr sz="1400" b="1">
                <a:solidFill>
                  <a:srgbClr val="F5F8FF"/>
                </a:solidFill>
                <a:latin typeface="Aptos"/>
              </a:rPr>
              <a:t>Investigation • correlation • scope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269480" y="3291839"/>
            <a:ext cx="2926080" cy="201168"/>
          </a:xfrm>
          <a:prstGeom prst="rect">
            <a:avLst/>
          </a:prstGeom>
          <a:noFill/>
        </p:spPr>
        <p:txBody>
          <a:bodyPr wrap="none" lIns="36576" rIns="36576" tIns="27432" bIns="27432" anchor="t">
            <a:spAutoFit/>
          </a:bodyPr>
          <a:lstStyle/>
          <a:p>
            <a:pPr algn="l"/>
            <a:r>
              <a:rPr sz="1050" b="0">
                <a:solidFill>
                  <a:srgbClr val="AAB7CF"/>
                </a:solidFill>
                <a:latin typeface="Aptos"/>
              </a:rPr>
              <a:t>Deep dive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446520" y="3822191"/>
            <a:ext cx="640080" cy="594360"/>
          </a:xfrm>
          <a:prstGeom prst="roundRect">
            <a:avLst/>
          </a:prstGeom>
          <a:solidFill>
            <a:srgbClr val="FF5299"/>
          </a:solidFill>
          <a:ln>
            <a:solidFill>
              <a:srgbClr val="FF52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46520" y="3959352"/>
            <a:ext cx="640080" cy="228600"/>
          </a:xfrm>
          <a:prstGeom prst="rect">
            <a:avLst/>
          </a:prstGeom>
          <a:noFill/>
        </p:spPr>
        <p:txBody>
          <a:bodyPr wrap="none" lIns="36576" rIns="36576" tIns="27432" bIns="27432" anchor="t">
            <a:spAutoFit/>
          </a:bodyPr>
          <a:lstStyle/>
          <a:p>
            <a:pPr algn="ctr"/>
            <a:r>
              <a:rPr sz="1600" b="1">
                <a:solidFill>
                  <a:srgbClr val="0A0F1E"/>
                </a:solidFill>
                <a:latin typeface="Aptos"/>
              </a:rPr>
              <a:t>L3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269480" y="3931920"/>
            <a:ext cx="3749039" cy="347472"/>
          </a:xfrm>
          <a:prstGeom prst="rect">
            <a:avLst/>
          </a:prstGeom>
          <a:noFill/>
        </p:spPr>
        <p:txBody>
          <a:bodyPr wrap="none" lIns="36576" rIns="36576" tIns="27432" bIns="27432" anchor="t">
            <a:spAutoFit/>
          </a:bodyPr>
          <a:lstStyle/>
          <a:p>
            <a:pPr algn="l"/>
            <a:r>
              <a:rPr sz="1400" b="1">
                <a:solidFill>
                  <a:srgbClr val="F5F8FF"/>
                </a:solidFill>
                <a:latin typeface="Aptos"/>
              </a:rPr>
              <a:t>Advanced analysis • threat hunting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269480" y="4251959"/>
            <a:ext cx="2926080" cy="201168"/>
          </a:xfrm>
          <a:prstGeom prst="rect">
            <a:avLst/>
          </a:prstGeom>
          <a:noFill/>
        </p:spPr>
        <p:txBody>
          <a:bodyPr wrap="none" lIns="36576" rIns="36576" tIns="27432" bIns="27432" anchor="t">
            <a:spAutoFit/>
          </a:bodyPr>
          <a:lstStyle/>
          <a:p>
            <a:pPr algn="l"/>
            <a:r>
              <a:rPr sz="1050" b="0">
                <a:solidFill>
                  <a:srgbClr val="AAB7CF"/>
                </a:solidFill>
                <a:latin typeface="Aptos"/>
              </a:rPr>
              <a:t>Expert / complex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9D5CFF"/>
          </a:solidFill>
          <a:ln>
            <a:solidFill>
              <a:srgbClr val="9D5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789920" y="228600"/>
            <a:ext cx="1005840" cy="73152"/>
          </a:xfrm>
          <a:prstGeom prst="roundRect">
            <a:avLst/>
          </a:prstGeom>
          <a:solidFill>
            <a:srgbClr val="9D5CFF"/>
          </a:solidFill>
          <a:ln>
            <a:solidFill>
              <a:srgbClr val="9D5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1109960" y="384048"/>
            <a:ext cx="685800" cy="45720"/>
          </a:xfrm>
          <a:prstGeom prst="roundRect">
            <a:avLst/>
          </a:prstGeom>
          <a:solidFill>
            <a:srgbClr val="9D5CFF"/>
          </a:solidFill>
          <a:ln>
            <a:solidFill>
              <a:srgbClr val="9D5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347472"/>
            <a:ext cx="9144000" cy="502920"/>
          </a:xfrm>
          <a:prstGeom prst="rect">
            <a:avLst/>
          </a:prstGeom>
          <a:noFill/>
        </p:spPr>
        <p:txBody>
          <a:bodyPr wrap="none" lIns="36576" rIns="36576" tIns="27432" bIns="27432" anchor="t">
            <a:spAutoFit/>
          </a:bodyPr>
          <a:lstStyle/>
          <a:p>
            <a:pPr algn="l"/>
            <a:r>
              <a:rPr sz="2700" b="1">
                <a:solidFill>
                  <a:srgbClr val="F5F8FF"/>
                </a:solidFill>
                <a:latin typeface="Aptos"/>
              </a:rPr>
              <a:t>SIEM vs IDS vs IPS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896112"/>
            <a:ext cx="10515600" cy="347472"/>
          </a:xfrm>
          <a:prstGeom prst="rect">
            <a:avLst/>
          </a:prstGeom>
          <a:noFill/>
        </p:spPr>
        <p:txBody>
          <a:bodyPr wrap="none" lIns="36576" rIns="36576" tIns="27432" bIns="27432" anchor="t">
            <a:spAutoFit/>
          </a:bodyPr>
          <a:lstStyle/>
          <a:p>
            <a:pPr algn="l"/>
            <a:r>
              <a:rPr sz="1150" b="0">
                <a:solidFill>
                  <a:srgbClr val="AAB7CF"/>
                </a:solidFill>
                <a:latin typeface="Aptos"/>
              </a:rPr>
              <a:t>Three security technologies with different jobs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09960" y="6355080"/>
            <a:ext cx="502920" cy="228600"/>
          </a:xfrm>
          <a:prstGeom prst="rect">
            <a:avLst/>
          </a:prstGeom>
          <a:noFill/>
        </p:spPr>
        <p:txBody>
          <a:bodyPr wrap="none" lIns="36576" rIns="36576" tIns="27432" bIns="27432" anchor="t">
            <a:spAutoFit/>
          </a:bodyPr>
          <a:lstStyle/>
          <a:p>
            <a:pPr algn="r"/>
            <a:r>
              <a:rPr sz="1000" b="1">
                <a:solidFill>
                  <a:srgbClr val="AAB7CF"/>
                </a:solidFill>
                <a:latin typeface="Aptos"/>
              </a:rPr>
              <a:t>03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417320"/>
            <a:ext cx="2926080" cy="502920"/>
          </a:xfrm>
          <a:prstGeom prst="roundRect">
            <a:avLst/>
          </a:prstGeom>
          <a:solidFill>
            <a:srgbClr val="9D5CFF"/>
          </a:solidFill>
          <a:ln>
            <a:solidFill>
              <a:srgbClr val="9D5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49808" y="1554480"/>
            <a:ext cx="2706624" cy="201168"/>
          </a:xfrm>
          <a:prstGeom prst="rect">
            <a:avLst/>
          </a:prstGeom>
          <a:noFill/>
        </p:spPr>
        <p:txBody>
          <a:bodyPr wrap="none" lIns="36576" rIns="36576" tIns="27432" bIns="27432" anchor="t">
            <a:spAutoFit/>
          </a:bodyPr>
          <a:lstStyle/>
          <a:p>
            <a:pPr algn="ctr"/>
            <a:r>
              <a:rPr sz="1300" b="1">
                <a:solidFill>
                  <a:srgbClr val="0A0F1E"/>
                </a:solidFill>
                <a:latin typeface="Aptos"/>
              </a:rPr>
              <a:t>Technology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794760" y="1417320"/>
            <a:ext cx="3886200" cy="502920"/>
          </a:xfrm>
          <a:prstGeom prst="roundRect">
            <a:avLst/>
          </a:prstGeom>
          <a:solidFill>
            <a:srgbClr val="9D5CFF"/>
          </a:solidFill>
          <a:ln>
            <a:solidFill>
              <a:srgbClr val="9D5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904488" y="1554480"/>
            <a:ext cx="3666744" cy="201168"/>
          </a:xfrm>
          <a:prstGeom prst="rect">
            <a:avLst/>
          </a:prstGeom>
          <a:noFill/>
        </p:spPr>
        <p:txBody>
          <a:bodyPr wrap="none" lIns="36576" rIns="36576" tIns="27432" bIns="27432" anchor="t">
            <a:spAutoFit/>
          </a:bodyPr>
          <a:lstStyle/>
          <a:p>
            <a:pPr algn="ctr"/>
            <a:r>
              <a:rPr sz="1300" b="1">
                <a:solidFill>
                  <a:srgbClr val="0A0F1E"/>
                </a:solidFill>
                <a:latin typeface="Aptos"/>
              </a:rPr>
              <a:t>Main purpose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909560" y="1417320"/>
            <a:ext cx="3566160" cy="502920"/>
          </a:xfrm>
          <a:prstGeom prst="roundRect">
            <a:avLst/>
          </a:prstGeom>
          <a:solidFill>
            <a:srgbClr val="9D5CFF"/>
          </a:solidFill>
          <a:ln>
            <a:solidFill>
              <a:srgbClr val="9D5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019288" y="1554480"/>
            <a:ext cx="3346704" cy="201168"/>
          </a:xfrm>
          <a:prstGeom prst="rect">
            <a:avLst/>
          </a:prstGeom>
          <a:noFill/>
        </p:spPr>
        <p:txBody>
          <a:bodyPr wrap="none" lIns="36576" rIns="36576" tIns="27432" bIns="27432" anchor="t">
            <a:spAutoFit/>
          </a:bodyPr>
          <a:lstStyle/>
          <a:p>
            <a:pPr algn="ctr"/>
            <a:r>
              <a:rPr sz="1300" b="1">
                <a:solidFill>
                  <a:srgbClr val="0A0F1E"/>
                </a:solidFill>
                <a:latin typeface="Aptos"/>
              </a:rPr>
              <a:t>Typical output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2029968"/>
            <a:ext cx="2926080" cy="896112"/>
          </a:xfrm>
          <a:prstGeom prst="roundRect">
            <a:avLst/>
          </a:prstGeom>
          <a:solidFill>
            <a:srgbClr val="161F37"/>
          </a:solidFill>
          <a:ln>
            <a:solidFill>
              <a:srgbClr val="2BD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7240" y="2212848"/>
            <a:ext cx="2651760" cy="475488"/>
          </a:xfrm>
          <a:prstGeom prst="rect">
            <a:avLst/>
          </a:prstGeom>
          <a:noFill/>
        </p:spPr>
        <p:txBody>
          <a:bodyPr wrap="none" lIns="36576" rIns="36576" tIns="27432" bIns="27432" anchor="t">
            <a:spAutoFit/>
          </a:bodyPr>
          <a:lstStyle/>
          <a:p>
            <a:pPr algn="l"/>
            <a:r>
              <a:rPr sz="1450" b="1">
                <a:solidFill>
                  <a:srgbClr val="F5F8FF"/>
                </a:solidFill>
                <a:latin typeface="Aptos"/>
              </a:rPr>
              <a:t>SIEM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794760" y="2029968"/>
            <a:ext cx="3886200" cy="896112"/>
          </a:xfrm>
          <a:prstGeom prst="roundRect">
            <a:avLst/>
          </a:prstGeom>
          <a:solidFill>
            <a:srgbClr val="161F37"/>
          </a:solidFill>
          <a:ln>
            <a:solidFill>
              <a:srgbClr val="2D38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931920" y="2212848"/>
            <a:ext cx="3611880" cy="475488"/>
          </a:xfrm>
          <a:prstGeom prst="rect">
            <a:avLst/>
          </a:prstGeom>
          <a:noFill/>
        </p:spPr>
        <p:txBody>
          <a:bodyPr wrap="none" lIns="36576" rIns="36576" tIns="27432" bIns="27432" anchor="t">
            <a:spAutoFit/>
          </a:bodyPr>
          <a:lstStyle/>
          <a:p>
            <a:pPr algn="l"/>
            <a:r>
              <a:rPr sz="1450" b="0">
                <a:solidFill>
                  <a:srgbClr val="F5F8FF"/>
                </a:solidFill>
                <a:latin typeface="Aptos"/>
              </a:rPr>
              <a:t>Collects &amp; correlates logs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909560" y="2029968"/>
            <a:ext cx="3566160" cy="896112"/>
          </a:xfrm>
          <a:prstGeom prst="roundRect">
            <a:avLst/>
          </a:prstGeom>
          <a:solidFill>
            <a:srgbClr val="161F37"/>
          </a:solidFill>
          <a:ln>
            <a:solidFill>
              <a:srgbClr val="2D38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46720" y="2212848"/>
            <a:ext cx="3291840" cy="475488"/>
          </a:xfrm>
          <a:prstGeom prst="rect">
            <a:avLst/>
          </a:prstGeom>
          <a:noFill/>
        </p:spPr>
        <p:txBody>
          <a:bodyPr wrap="none" lIns="36576" rIns="36576" tIns="27432" bIns="27432" anchor="t">
            <a:spAutoFit/>
          </a:bodyPr>
          <a:lstStyle/>
          <a:p>
            <a:pPr algn="l"/>
            <a:r>
              <a:rPr sz="1450" b="0">
                <a:solidFill>
                  <a:srgbClr val="F5F8FF"/>
                </a:solidFill>
                <a:latin typeface="Aptos"/>
              </a:rPr>
              <a:t>Events, dashboards, investigations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" y="3172968"/>
            <a:ext cx="2926080" cy="896112"/>
          </a:xfrm>
          <a:prstGeom prst="roundRect">
            <a:avLst/>
          </a:prstGeom>
          <a:solidFill>
            <a:srgbClr val="161F37"/>
          </a:solidFill>
          <a:ln>
            <a:solidFill>
              <a:srgbClr val="9D5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77240" y="3355848"/>
            <a:ext cx="2651760" cy="475488"/>
          </a:xfrm>
          <a:prstGeom prst="rect">
            <a:avLst/>
          </a:prstGeom>
          <a:noFill/>
        </p:spPr>
        <p:txBody>
          <a:bodyPr wrap="none" lIns="36576" rIns="36576" tIns="27432" bIns="27432" anchor="t">
            <a:spAutoFit/>
          </a:bodyPr>
          <a:lstStyle/>
          <a:p>
            <a:pPr algn="l"/>
            <a:r>
              <a:rPr sz="1450" b="1">
                <a:solidFill>
                  <a:srgbClr val="F5F8FF"/>
                </a:solidFill>
                <a:latin typeface="Aptos"/>
              </a:rPr>
              <a:t>IDS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794760" y="3172968"/>
            <a:ext cx="3886200" cy="896112"/>
          </a:xfrm>
          <a:prstGeom prst="roundRect">
            <a:avLst/>
          </a:prstGeom>
          <a:solidFill>
            <a:srgbClr val="161F37"/>
          </a:solidFill>
          <a:ln>
            <a:solidFill>
              <a:srgbClr val="2D38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931920" y="3355848"/>
            <a:ext cx="3611880" cy="475488"/>
          </a:xfrm>
          <a:prstGeom prst="rect">
            <a:avLst/>
          </a:prstGeom>
          <a:noFill/>
        </p:spPr>
        <p:txBody>
          <a:bodyPr wrap="none" lIns="36576" rIns="36576" tIns="27432" bIns="27432" anchor="t">
            <a:spAutoFit/>
          </a:bodyPr>
          <a:lstStyle/>
          <a:p>
            <a:pPr algn="l"/>
            <a:r>
              <a:rPr sz="1450" b="0">
                <a:solidFill>
                  <a:srgbClr val="F5F8FF"/>
                </a:solidFill>
                <a:latin typeface="Aptos"/>
              </a:rPr>
              <a:t>Detects suspicious traffic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909560" y="3172968"/>
            <a:ext cx="3566160" cy="896112"/>
          </a:xfrm>
          <a:prstGeom prst="roundRect">
            <a:avLst/>
          </a:prstGeom>
          <a:solidFill>
            <a:srgbClr val="161F37"/>
          </a:solidFill>
          <a:ln>
            <a:solidFill>
              <a:srgbClr val="2D38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046720" y="3355848"/>
            <a:ext cx="3291840" cy="475488"/>
          </a:xfrm>
          <a:prstGeom prst="rect">
            <a:avLst/>
          </a:prstGeom>
          <a:noFill/>
        </p:spPr>
        <p:txBody>
          <a:bodyPr wrap="none" lIns="36576" rIns="36576" tIns="27432" bIns="27432" anchor="t">
            <a:spAutoFit/>
          </a:bodyPr>
          <a:lstStyle/>
          <a:p>
            <a:pPr algn="l"/>
            <a:r>
              <a:rPr sz="1450" b="0">
                <a:solidFill>
                  <a:srgbClr val="F5F8FF"/>
                </a:solidFill>
                <a:latin typeface="Aptos"/>
              </a:rPr>
              <a:t>Alerts / signatures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40080" y="4315968"/>
            <a:ext cx="2926080" cy="896112"/>
          </a:xfrm>
          <a:prstGeom prst="roundRect">
            <a:avLst/>
          </a:prstGeom>
          <a:solidFill>
            <a:srgbClr val="161F37"/>
          </a:solidFill>
          <a:ln>
            <a:solidFill>
              <a:srgbClr val="FF52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77240" y="4498848"/>
            <a:ext cx="2651760" cy="475488"/>
          </a:xfrm>
          <a:prstGeom prst="rect">
            <a:avLst/>
          </a:prstGeom>
          <a:noFill/>
        </p:spPr>
        <p:txBody>
          <a:bodyPr wrap="none" lIns="36576" rIns="36576" tIns="27432" bIns="27432" anchor="t">
            <a:spAutoFit/>
          </a:bodyPr>
          <a:lstStyle/>
          <a:p>
            <a:pPr algn="l"/>
            <a:r>
              <a:rPr sz="1450" b="1">
                <a:solidFill>
                  <a:srgbClr val="F5F8FF"/>
                </a:solidFill>
                <a:latin typeface="Aptos"/>
              </a:rPr>
              <a:t>IPS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3794760" y="4315968"/>
            <a:ext cx="3886200" cy="896112"/>
          </a:xfrm>
          <a:prstGeom prst="roundRect">
            <a:avLst/>
          </a:prstGeom>
          <a:solidFill>
            <a:srgbClr val="161F37"/>
          </a:solidFill>
          <a:ln>
            <a:solidFill>
              <a:srgbClr val="2D38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931920" y="4498848"/>
            <a:ext cx="3611880" cy="475488"/>
          </a:xfrm>
          <a:prstGeom prst="rect">
            <a:avLst/>
          </a:prstGeom>
          <a:noFill/>
        </p:spPr>
        <p:txBody>
          <a:bodyPr wrap="none" lIns="36576" rIns="36576" tIns="27432" bIns="27432" anchor="t">
            <a:spAutoFit/>
          </a:bodyPr>
          <a:lstStyle/>
          <a:p>
            <a:pPr algn="l"/>
            <a:r>
              <a:rPr sz="1450" b="0">
                <a:solidFill>
                  <a:srgbClr val="F5F8FF"/>
                </a:solidFill>
                <a:latin typeface="Aptos"/>
              </a:rPr>
              <a:t>Detects + blocks traffic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909560" y="4315968"/>
            <a:ext cx="3566160" cy="896112"/>
          </a:xfrm>
          <a:prstGeom prst="roundRect">
            <a:avLst/>
          </a:prstGeom>
          <a:solidFill>
            <a:srgbClr val="161F37"/>
          </a:solidFill>
          <a:ln>
            <a:solidFill>
              <a:srgbClr val="2D38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046720" y="4498848"/>
            <a:ext cx="3291840" cy="475488"/>
          </a:xfrm>
          <a:prstGeom prst="rect">
            <a:avLst/>
          </a:prstGeom>
          <a:noFill/>
        </p:spPr>
        <p:txBody>
          <a:bodyPr wrap="none" lIns="36576" rIns="36576" tIns="27432" bIns="27432" anchor="t">
            <a:spAutoFit/>
          </a:bodyPr>
          <a:lstStyle/>
          <a:p>
            <a:pPr algn="l"/>
            <a:r>
              <a:rPr sz="1450" b="0">
                <a:solidFill>
                  <a:srgbClr val="F5F8FF"/>
                </a:solidFill>
                <a:latin typeface="Aptos"/>
              </a:rPr>
              <a:t>Alerts + prevention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2960" y="5623560"/>
            <a:ext cx="10515600" cy="457200"/>
          </a:xfrm>
          <a:prstGeom prst="rect">
            <a:avLst/>
          </a:prstGeom>
          <a:noFill/>
        </p:spPr>
        <p:txBody>
          <a:bodyPr wrap="none" lIns="36576" rIns="36576" tIns="27432" bIns="27432" anchor="t">
            <a:spAutoFit/>
          </a:bodyPr>
          <a:lstStyle/>
          <a:p>
            <a:pPr algn="ctr"/>
            <a:r>
              <a:rPr sz="1400" b="1">
                <a:solidFill>
                  <a:srgbClr val="2BD3FF"/>
                </a:solidFill>
                <a:latin typeface="Aptos"/>
              </a:rPr>
              <a:t>Memory tip:  SIEM = collect/correlate   •   IDS = detect   •   IPS = detect + block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4E7EFF"/>
          </a:solidFill>
          <a:ln>
            <a:solidFill>
              <a:srgbClr val="4E7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789920" y="228600"/>
            <a:ext cx="1005840" cy="73152"/>
          </a:xfrm>
          <a:prstGeom prst="roundRect">
            <a:avLst/>
          </a:prstGeom>
          <a:solidFill>
            <a:srgbClr val="4E7EFF"/>
          </a:solidFill>
          <a:ln>
            <a:solidFill>
              <a:srgbClr val="4E7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1109960" y="384048"/>
            <a:ext cx="685800" cy="45720"/>
          </a:xfrm>
          <a:prstGeom prst="roundRect">
            <a:avLst/>
          </a:prstGeom>
          <a:solidFill>
            <a:srgbClr val="9D5CFF"/>
          </a:solidFill>
          <a:ln>
            <a:solidFill>
              <a:srgbClr val="9D5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347472"/>
            <a:ext cx="9144000" cy="502920"/>
          </a:xfrm>
          <a:prstGeom prst="rect">
            <a:avLst/>
          </a:prstGeom>
          <a:noFill/>
        </p:spPr>
        <p:txBody>
          <a:bodyPr wrap="none" lIns="36576" rIns="36576" tIns="27432" bIns="27432" anchor="t">
            <a:spAutoFit/>
          </a:bodyPr>
          <a:lstStyle/>
          <a:p>
            <a:pPr algn="l"/>
            <a:r>
              <a:rPr sz="2700" b="1">
                <a:solidFill>
                  <a:srgbClr val="F5F8FF"/>
                </a:solidFill>
                <a:latin typeface="Aptos"/>
              </a:rPr>
              <a:t>Lab Architecture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896112"/>
            <a:ext cx="10515600" cy="347472"/>
          </a:xfrm>
          <a:prstGeom prst="rect">
            <a:avLst/>
          </a:prstGeom>
          <a:noFill/>
        </p:spPr>
        <p:txBody>
          <a:bodyPr wrap="none" lIns="36576" rIns="36576" tIns="27432" bIns="27432" anchor="t">
            <a:spAutoFit/>
          </a:bodyPr>
          <a:lstStyle/>
          <a:p>
            <a:pPr algn="l"/>
            <a:r>
              <a:rPr sz="1150" b="0">
                <a:solidFill>
                  <a:srgbClr val="AAB7CF"/>
                </a:solidFill>
                <a:latin typeface="Aptos"/>
              </a:rPr>
              <a:t>A simple isolated monitoring environment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09960" y="6355080"/>
            <a:ext cx="502920" cy="228600"/>
          </a:xfrm>
          <a:prstGeom prst="rect">
            <a:avLst/>
          </a:prstGeom>
          <a:noFill/>
        </p:spPr>
        <p:txBody>
          <a:bodyPr wrap="none" lIns="36576" rIns="36576" tIns="27432" bIns="27432" anchor="t">
            <a:spAutoFit/>
          </a:bodyPr>
          <a:lstStyle/>
          <a:p>
            <a:pPr algn="r"/>
            <a:r>
              <a:rPr sz="1000" b="1">
                <a:solidFill>
                  <a:srgbClr val="AAB7CF"/>
                </a:solidFill>
                <a:latin typeface="Aptos"/>
              </a:rPr>
              <a:t>04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2057400"/>
            <a:ext cx="2743200" cy="1325880"/>
          </a:xfrm>
          <a:prstGeom prst="roundRect">
            <a:avLst/>
          </a:prstGeom>
          <a:solidFill>
            <a:srgbClr val="161F37"/>
          </a:solidFill>
          <a:ln>
            <a:solidFill>
              <a:srgbClr val="2BD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0392" y="2350008"/>
            <a:ext cx="2414016" cy="292608"/>
          </a:xfrm>
          <a:prstGeom prst="rect">
            <a:avLst/>
          </a:prstGeom>
          <a:noFill/>
        </p:spPr>
        <p:txBody>
          <a:bodyPr wrap="none" lIns="36576" rIns="36576" tIns="27432" bIns="27432" anchor="t">
            <a:spAutoFit/>
          </a:bodyPr>
          <a:lstStyle/>
          <a:p>
            <a:pPr algn="ctr"/>
            <a:r>
              <a:rPr sz="1600" b="1">
                <a:solidFill>
                  <a:srgbClr val="2BD3FF"/>
                </a:solidFill>
                <a:latin typeface="Aptos"/>
              </a:rPr>
              <a:t>TEST MACHINE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2770632"/>
            <a:ext cx="2377440" cy="274320"/>
          </a:xfrm>
          <a:prstGeom prst="rect">
            <a:avLst/>
          </a:prstGeom>
          <a:noFill/>
        </p:spPr>
        <p:txBody>
          <a:bodyPr wrap="none" lIns="36576" rIns="36576" tIns="27432" bIns="27432" anchor="t">
            <a:spAutoFit/>
          </a:bodyPr>
          <a:lstStyle/>
          <a:p>
            <a:pPr algn="ctr"/>
            <a:r>
              <a:rPr sz="1150" b="0">
                <a:solidFill>
                  <a:srgbClr val="AAB7CF"/>
                </a:solidFill>
                <a:latin typeface="Aptos"/>
              </a:rPr>
              <a:t>Generate ping / HTTP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43400" y="2057400"/>
            <a:ext cx="2743200" cy="1325880"/>
          </a:xfrm>
          <a:prstGeom prst="roundRect">
            <a:avLst/>
          </a:prstGeom>
          <a:solidFill>
            <a:srgbClr val="161F37"/>
          </a:solidFill>
          <a:ln>
            <a:solidFill>
              <a:srgbClr val="FFA9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07992" y="2350008"/>
            <a:ext cx="2414016" cy="292608"/>
          </a:xfrm>
          <a:prstGeom prst="rect">
            <a:avLst/>
          </a:prstGeom>
          <a:noFill/>
        </p:spPr>
        <p:txBody>
          <a:bodyPr wrap="none" lIns="36576" rIns="36576" tIns="27432" bIns="27432" anchor="t">
            <a:spAutoFit/>
          </a:bodyPr>
          <a:lstStyle/>
          <a:p>
            <a:pPr algn="ctr"/>
            <a:r>
              <a:rPr sz="1600" b="1">
                <a:solidFill>
                  <a:srgbClr val="FFA94A"/>
                </a:solidFill>
                <a:latin typeface="Aptos"/>
              </a:rPr>
              <a:t>VIRTUAL NETWORK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26280" y="2770632"/>
            <a:ext cx="2377440" cy="274320"/>
          </a:xfrm>
          <a:prstGeom prst="rect">
            <a:avLst/>
          </a:prstGeom>
          <a:noFill/>
        </p:spPr>
        <p:txBody>
          <a:bodyPr wrap="none" lIns="36576" rIns="36576" tIns="27432" bIns="27432" anchor="t">
            <a:spAutoFit/>
          </a:bodyPr>
          <a:lstStyle/>
          <a:p>
            <a:pPr algn="ctr"/>
            <a:r>
              <a:rPr sz="1150" b="0">
                <a:solidFill>
                  <a:srgbClr val="AAB7CF"/>
                </a:solidFill>
                <a:latin typeface="Aptos"/>
              </a:rPr>
              <a:t>Traffic path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01000" y="2057400"/>
            <a:ext cx="2743200" cy="1325880"/>
          </a:xfrm>
          <a:prstGeom prst="roundRect">
            <a:avLst/>
          </a:prstGeom>
          <a:solidFill>
            <a:srgbClr val="161F37"/>
          </a:solidFill>
          <a:ln>
            <a:solidFill>
              <a:srgbClr val="9D5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165592" y="2350008"/>
            <a:ext cx="2414016" cy="292608"/>
          </a:xfrm>
          <a:prstGeom prst="rect">
            <a:avLst/>
          </a:prstGeom>
          <a:noFill/>
        </p:spPr>
        <p:txBody>
          <a:bodyPr wrap="none" lIns="36576" rIns="36576" tIns="27432" bIns="27432" anchor="t">
            <a:spAutoFit/>
          </a:bodyPr>
          <a:lstStyle/>
          <a:p>
            <a:pPr algn="ctr"/>
            <a:r>
              <a:rPr sz="1600" b="1">
                <a:solidFill>
                  <a:srgbClr val="9D5CFF"/>
                </a:solidFill>
                <a:latin typeface="Aptos"/>
              </a:rPr>
              <a:t>UBUNTU SERVER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83879" y="2770632"/>
            <a:ext cx="2377440" cy="274320"/>
          </a:xfrm>
          <a:prstGeom prst="rect">
            <a:avLst/>
          </a:prstGeom>
          <a:noFill/>
        </p:spPr>
        <p:txBody>
          <a:bodyPr wrap="none" lIns="36576" rIns="36576" tIns="27432" bIns="27432" anchor="t">
            <a:spAutoFit/>
          </a:bodyPr>
          <a:lstStyle/>
          <a:p>
            <a:pPr algn="ctr"/>
            <a:r>
              <a:rPr sz="1150" b="0">
                <a:solidFill>
                  <a:srgbClr val="AAB7CF"/>
                </a:solidFill>
                <a:latin typeface="Aptos"/>
              </a:rPr>
              <a:t>Snort sensor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3429000" y="2715768"/>
            <a:ext cx="914400" cy="0"/>
          </a:xfrm>
          <a:prstGeom prst="line">
            <a:avLst/>
          </a:prstGeom>
          <a:ln w="38100">
            <a:solidFill>
              <a:srgbClr val="2BD3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7086600" y="2715768"/>
            <a:ext cx="914400" cy="0"/>
          </a:xfrm>
          <a:prstGeom prst="line">
            <a:avLst/>
          </a:prstGeom>
          <a:ln w="38100">
            <a:solidFill>
              <a:srgbClr val="9D5C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1051560" y="4069080"/>
            <a:ext cx="10058400" cy="502920"/>
          </a:xfrm>
          <a:prstGeom prst="rect">
            <a:avLst/>
          </a:prstGeom>
          <a:noFill/>
        </p:spPr>
        <p:txBody>
          <a:bodyPr wrap="none" lIns="36576" rIns="36576" tIns="27432" bIns="27432" anchor="t">
            <a:spAutoFit/>
          </a:bodyPr>
          <a:lstStyle/>
          <a:p>
            <a:pPr algn="ctr"/>
            <a:r>
              <a:rPr sz="1500" b="1">
                <a:solidFill>
                  <a:srgbClr val="F5F8FF"/>
                </a:solidFill>
                <a:latin typeface="Aptos"/>
              </a:rPr>
              <a:t>Traffic generated → observed on the monitored interface → matched against Snort rules → alert shown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840480" y="5074920"/>
            <a:ext cx="4480560" cy="310896"/>
          </a:xfrm>
          <a:prstGeom prst="roundRect">
            <a:avLst/>
          </a:prstGeom>
          <a:solidFill>
            <a:srgbClr val="FFA94A"/>
          </a:solidFill>
          <a:ln>
            <a:solidFill>
              <a:srgbClr val="FFA9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877056" y="5120640"/>
            <a:ext cx="4407408" cy="182880"/>
          </a:xfrm>
          <a:prstGeom prst="rect">
            <a:avLst/>
          </a:prstGeom>
          <a:noFill/>
        </p:spPr>
        <p:txBody>
          <a:bodyPr wrap="none" lIns="36576" rIns="36576" tIns="27432" bIns="27432" anchor="t">
            <a:spAutoFit/>
          </a:bodyPr>
          <a:lstStyle/>
          <a:p>
            <a:pPr algn="ctr"/>
            <a:r>
              <a:rPr sz="1050" b="1">
                <a:solidFill>
                  <a:srgbClr val="0A0F1E"/>
                </a:solidFill>
                <a:latin typeface="Aptos"/>
              </a:rPr>
              <a:t>Keep the lab controlled / authorized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46DD97"/>
          </a:solidFill>
          <a:ln>
            <a:solidFill>
              <a:srgbClr val="46DD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789920" y="228600"/>
            <a:ext cx="1005840" cy="73152"/>
          </a:xfrm>
          <a:prstGeom prst="roundRect">
            <a:avLst/>
          </a:prstGeom>
          <a:solidFill>
            <a:srgbClr val="46DD97"/>
          </a:solidFill>
          <a:ln>
            <a:solidFill>
              <a:srgbClr val="46DD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1109960" y="384048"/>
            <a:ext cx="685800" cy="45720"/>
          </a:xfrm>
          <a:prstGeom prst="roundRect">
            <a:avLst/>
          </a:prstGeom>
          <a:solidFill>
            <a:srgbClr val="9D5CFF"/>
          </a:solidFill>
          <a:ln>
            <a:solidFill>
              <a:srgbClr val="9D5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347472"/>
            <a:ext cx="9144000" cy="502920"/>
          </a:xfrm>
          <a:prstGeom prst="rect">
            <a:avLst/>
          </a:prstGeom>
          <a:noFill/>
        </p:spPr>
        <p:txBody>
          <a:bodyPr wrap="none" lIns="36576" rIns="36576" tIns="27432" bIns="27432" anchor="t">
            <a:spAutoFit/>
          </a:bodyPr>
          <a:lstStyle/>
          <a:p>
            <a:pPr algn="l"/>
            <a:r>
              <a:rPr sz="2700" b="1">
                <a:solidFill>
                  <a:srgbClr val="F5F8FF"/>
                </a:solidFill>
                <a:latin typeface="Aptos"/>
              </a:rPr>
              <a:t>Ubuntu Server Basic Setup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896112"/>
            <a:ext cx="10515600" cy="347472"/>
          </a:xfrm>
          <a:prstGeom prst="rect">
            <a:avLst/>
          </a:prstGeom>
          <a:noFill/>
        </p:spPr>
        <p:txBody>
          <a:bodyPr wrap="none" lIns="36576" rIns="36576" tIns="27432" bIns="27432" anchor="t">
            <a:spAutoFit/>
          </a:bodyPr>
          <a:lstStyle/>
          <a:p>
            <a:pPr algn="l"/>
            <a:r>
              <a:rPr sz="1150" b="0">
                <a:solidFill>
                  <a:srgbClr val="AAB7CF"/>
                </a:solidFill>
                <a:latin typeface="Aptos"/>
              </a:rPr>
              <a:t>Prepare the Linux sensor before installing Snort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09960" y="6355080"/>
            <a:ext cx="502920" cy="228600"/>
          </a:xfrm>
          <a:prstGeom prst="rect">
            <a:avLst/>
          </a:prstGeom>
          <a:noFill/>
        </p:spPr>
        <p:txBody>
          <a:bodyPr wrap="none" lIns="36576" rIns="36576" tIns="27432" bIns="27432" anchor="t">
            <a:spAutoFit/>
          </a:bodyPr>
          <a:lstStyle/>
          <a:p>
            <a:pPr algn="r"/>
            <a:r>
              <a:rPr sz="1000" b="1">
                <a:solidFill>
                  <a:srgbClr val="AAB7CF"/>
                </a:solidFill>
                <a:latin typeface="Aptos"/>
              </a:rPr>
              <a:t>05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1325880"/>
            <a:ext cx="5440680" cy="438912"/>
          </a:xfrm>
          <a:prstGeom prst="roundRect">
            <a:avLst/>
          </a:prstGeom>
          <a:solidFill>
            <a:srgbClr val="1B2642"/>
          </a:solidFill>
          <a:ln>
            <a:solidFill>
              <a:srgbClr val="1B26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94360" y="1325880"/>
            <a:ext cx="64008" cy="438912"/>
          </a:xfrm>
          <a:prstGeom prst="roundRect">
            <a:avLst/>
          </a:prstGeom>
          <a:solidFill>
            <a:srgbClr val="46DD97"/>
          </a:solidFill>
          <a:ln>
            <a:solidFill>
              <a:srgbClr val="46DD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58952" y="1389888"/>
            <a:ext cx="5212080" cy="256032"/>
          </a:xfrm>
          <a:prstGeom prst="rect">
            <a:avLst/>
          </a:prstGeom>
          <a:noFill/>
        </p:spPr>
        <p:txBody>
          <a:bodyPr wrap="none" lIns="36576" rIns="36576" tIns="27432" bIns="27432" anchor="t">
            <a:spAutoFit/>
          </a:bodyPr>
          <a:lstStyle/>
          <a:p>
            <a:pPr algn="l"/>
            <a:r>
              <a:rPr sz="1400" b="1">
                <a:solidFill>
                  <a:srgbClr val="F5F8FF"/>
                </a:solidFill>
                <a:latin typeface="Aptos"/>
              </a:rPr>
              <a:t>1 • Update the system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7240" y="1901952"/>
            <a:ext cx="5074920" cy="1097280"/>
          </a:xfrm>
          <a:prstGeom prst="roundRect">
            <a:avLst/>
          </a:prstGeom>
          <a:solidFill>
            <a:srgbClr val="070B18"/>
          </a:solidFill>
          <a:ln>
            <a:solidFill>
              <a:srgbClr val="2E3D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777240" y="1901952"/>
            <a:ext cx="54864" cy="1097280"/>
          </a:xfrm>
          <a:prstGeom prst="roundRect">
            <a:avLst/>
          </a:prstGeom>
          <a:solidFill>
            <a:srgbClr val="46DD97"/>
          </a:solidFill>
          <a:ln>
            <a:solidFill>
              <a:srgbClr val="46DD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41832" y="2011680"/>
            <a:ext cx="4800600" cy="914400"/>
          </a:xfrm>
          <a:prstGeom prst="rect">
            <a:avLst/>
          </a:prstGeom>
          <a:noFill/>
        </p:spPr>
        <p:txBody>
          <a:bodyPr wrap="none" lIns="36576" rIns="36576" tIns="27432" bIns="27432" anchor="t">
            <a:spAutoFit/>
          </a:bodyPr>
          <a:lstStyle/>
          <a:p>
            <a:pPr algn="l"/>
            <a:r>
              <a:rPr sz="1400" b="0">
                <a:solidFill>
                  <a:srgbClr val="D7E1F2"/>
                </a:solidFill>
                <a:latin typeface="Consolas"/>
              </a:rPr>
              <a:t>sudo apt update
sudo apt upgrade -y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94360" y="3246120"/>
            <a:ext cx="5440680" cy="438912"/>
          </a:xfrm>
          <a:prstGeom prst="roundRect">
            <a:avLst/>
          </a:prstGeom>
          <a:solidFill>
            <a:srgbClr val="1B2642"/>
          </a:solidFill>
          <a:ln>
            <a:solidFill>
              <a:srgbClr val="1B26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594360" y="3246120"/>
            <a:ext cx="64008" cy="438912"/>
          </a:xfrm>
          <a:prstGeom prst="roundRect">
            <a:avLst/>
          </a:prstGeom>
          <a:solidFill>
            <a:srgbClr val="2BD3FF"/>
          </a:solidFill>
          <a:ln>
            <a:solidFill>
              <a:srgbClr val="2BD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58952" y="3310127"/>
            <a:ext cx="5212080" cy="256032"/>
          </a:xfrm>
          <a:prstGeom prst="rect">
            <a:avLst/>
          </a:prstGeom>
          <a:noFill/>
        </p:spPr>
        <p:txBody>
          <a:bodyPr wrap="none" lIns="36576" rIns="36576" tIns="27432" bIns="27432" anchor="t">
            <a:spAutoFit/>
          </a:bodyPr>
          <a:lstStyle/>
          <a:p>
            <a:pPr algn="l"/>
            <a:r>
              <a:rPr sz="1400" b="1">
                <a:solidFill>
                  <a:srgbClr val="F5F8FF"/>
                </a:solidFill>
                <a:latin typeface="Aptos"/>
              </a:rPr>
              <a:t>2 • Set hostname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7240" y="3822191"/>
            <a:ext cx="5074920" cy="1143000"/>
          </a:xfrm>
          <a:prstGeom prst="roundRect">
            <a:avLst/>
          </a:prstGeom>
          <a:solidFill>
            <a:srgbClr val="070B18"/>
          </a:solidFill>
          <a:ln>
            <a:solidFill>
              <a:srgbClr val="2E3D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777240" y="3822191"/>
            <a:ext cx="54864" cy="1143000"/>
          </a:xfrm>
          <a:prstGeom prst="roundRect">
            <a:avLst/>
          </a:prstGeom>
          <a:solidFill>
            <a:srgbClr val="2BD3FF"/>
          </a:solidFill>
          <a:ln>
            <a:solidFill>
              <a:srgbClr val="2BD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41832" y="3931920"/>
            <a:ext cx="4800600" cy="960120"/>
          </a:xfrm>
          <a:prstGeom prst="rect">
            <a:avLst/>
          </a:prstGeom>
          <a:noFill/>
        </p:spPr>
        <p:txBody>
          <a:bodyPr wrap="none" lIns="36576" rIns="36576" tIns="27432" bIns="27432" anchor="t">
            <a:spAutoFit/>
          </a:bodyPr>
          <a:lstStyle/>
          <a:p>
            <a:pPr algn="l"/>
            <a:r>
              <a:rPr sz="1250" b="0">
                <a:solidFill>
                  <a:srgbClr val="D7E1F2"/>
                </a:solidFill>
                <a:latin typeface="Consolas"/>
              </a:rPr>
              <a:t>hostnamectl
sudo hostnamectl set-hostname soc-snort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63640" y="1325880"/>
            <a:ext cx="5303520" cy="438912"/>
          </a:xfrm>
          <a:prstGeom prst="roundRect">
            <a:avLst/>
          </a:prstGeom>
          <a:solidFill>
            <a:srgbClr val="1B2642"/>
          </a:solidFill>
          <a:ln>
            <a:solidFill>
              <a:srgbClr val="1B26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6263640" y="1325880"/>
            <a:ext cx="64008" cy="438912"/>
          </a:xfrm>
          <a:prstGeom prst="roundRect">
            <a:avLst/>
          </a:prstGeom>
          <a:solidFill>
            <a:srgbClr val="4E7EFF"/>
          </a:solidFill>
          <a:ln>
            <a:solidFill>
              <a:srgbClr val="4E7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28231" y="1389888"/>
            <a:ext cx="5074920" cy="256032"/>
          </a:xfrm>
          <a:prstGeom prst="rect">
            <a:avLst/>
          </a:prstGeom>
          <a:noFill/>
        </p:spPr>
        <p:txBody>
          <a:bodyPr wrap="none" lIns="36576" rIns="36576" tIns="27432" bIns="27432" anchor="t">
            <a:spAutoFit/>
          </a:bodyPr>
          <a:lstStyle/>
          <a:p>
            <a:pPr algn="l"/>
            <a:r>
              <a:rPr sz="1400" b="1">
                <a:solidFill>
                  <a:srgbClr val="F5F8FF"/>
                </a:solidFill>
                <a:latin typeface="Aptos"/>
              </a:rPr>
              <a:t>3 • Check network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446520" y="1901952"/>
            <a:ext cx="4937760" cy="1417320"/>
          </a:xfrm>
          <a:prstGeom prst="roundRect">
            <a:avLst/>
          </a:prstGeom>
          <a:solidFill>
            <a:srgbClr val="070B18"/>
          </a:solidFill>
          <a:ln>
            <a:solidFill>
              <a:srgbClr val="2E3D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6446520" y="1901952"/>
            <a:ext cx="54864" cy="1417320"/>
          </a:xfrm>
          <a:prstGeom prst="roundRect">
            <a:avLst/>
          </a:prstGeom>
          <a:solidFill>
            <a:srgbClr val="4E7EFF"/>
          </a:solidFill>
          <a:ln>
            <a:solidFill>
              <a:srgbClr val="4E7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611112" y="2011680"/>
            <a:ext cx="4663440" cy="1234440"/>
          </a:xfrm>
          <a:prstGeom prst="rect">
            <a:avLst/>
          </a:prstGeom>
          <a:noFill/>
        </p:spPr>
        <p:txBody>
          <a:bodyPr wrap="none" lIns="36576" rIns="36576" tIns="27432" bIns="27432" anchor="t">
            <a:spAutoFit/>
          </a:bodyPr>
          <a:lstStyle/>
          <a:p>
            <a:pPr algn="l"/>
            <a:r>
              <a:rPr sz="1250" b="0">
                <a:solidFill>
                  <a:srgbClr val="D7E1F2"/>
                </a:solidFill>
                <a:latin typeface="Consolas"/>
              </a:rPr>
              <a:t>ip addr
ip route
ping -c 4 &lt;TEST-MACHINE-IP&gt;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46520" y="3703320"/>
            <a:ext cx="4800600" cy="1005840"/>
          </a:xfrm>
          <a:prstGeom prst="rect">
            <a:avLst/>
          </a:prstGeom>
          <a:noFill/>
        </p:spPr>
        <p:txBody>
          <a:bodyPr wrap="none" lIns="36576" rIns="36576" tIns="27432" bIns="27432" anchor="t">
            <a:spAutoFit/>
          </a:bodyPr>
          <a:lstStyle/>
          <a:p>
            <a:pPr algn="l"/>
            <a:r>
              <a:rPr sz="1500" b="1">
                <a:solidFill>
                  <a:srgbClr val="F5F8FF"/>
                </a:solidFill>
                <a:latin typeface="Aptos"/>
              </a:rPr>
              <a:t>Confirm the correct interface and that the VM can communicate with the test machine before troubleshooting Snort.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995160" y="5166360"/>
            <a:ext cx="3886200" cy="310896"/>
          </a:xfrm>
          <a:prstGeom prst="roundRect">
            <a:avLst/>
          </a:prstGeom>
          <a:solidFill>
            <a:srgbClr val="46DD97"/>
          </a:solidFill>
          <a:ln>
            <a:solidFill>
              <a:srgbClr val="46DD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031736" y="5212080"/>
            <a:ext cx="3813048" cy="182880"/>
          </a:xfrm>
          <a:prstGeom prst="rect">
            <a:avLst/>
          </a:prstGeom>
          <a:noFill/>
        </p:spPr>
        <p:txBody>
          <a:bodyPr wrap="none" lIns="36576" rIns="36576" tIns="27432" bIns="27432" anchor="t">
            <a:spAutoFit/>
          </a:bodyPr>
          <a:lstStyle/>
          <a:p>
            <a:pPr algn="ctr"/>
            <a:r>
              <a:rPr sz="1050" b="1">
                <a:solidFill>
                  <a:srgbClr val="0A0F1E"/>
                </a:solidFill>
                <a:latin typeface="Aptos"/>
              </a:rPr>
              <a:t>CHECKPOINT  •  VM + network working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BD3FF"/>
          </a:solidFill>
          <a:ln>
            <a:solidFill>
              <a:srgbClr val="2BD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789920" y="228600"/>
            <a:ext cx="1005840" cy="73152"/>
          </a:xfrm>
          <a:prstGeom prst="roundRect">
            <a:avLst/>
          </a:prstGeom>
          <a:solidFill>
            <a:srgbClr val="2BD3FF"/>
          </a:solidFill>
          <a:ln>
            <a:solidFill>
              <a:srgbClr val="2BD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1109960" y="384048"/>
            <a:ext cx="685800" cy="45720"/>
          </a:xfrm>
          <a:prstGeom prst="roundRect">
            <a:avLst/>
          </a:prstGeom>
          <a:solidFill>
            <a:srgbClr val="9D5CFF"/>
          </a:solidFill>
          <a:ln>
            <a:solidFill>
              <a:srgbClr val="9D5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347472"/>
            <a:ext cx="9144000" cy="502920"/>
          </a:xfrm>
          <a:prstGeom prst="rect">
            <a:avLst/>
          </a:prstGeom>
          <a:noFill/>
        </p:spPr>
        <p:txBody>
          <a:bodyPr wrap="none" lIns="36576" rIns="36576" tIns="27432" bIns="27432" anchor="t">
            <a:spAutoFit/>
          </a:bodyPr>
          <a:lstStyle/>
          <a:p>
            <a:pPr algn="l"/>
            <a:r>
              <a:rPr sz="2700" b="1">
                <a:solidFill>
                  <a:srgbClr val="F5F8FF"/>
                </a:solidFill>
                <a:latin typeface="Aptos"/>
              </a:rPr>
              <a:t>Install &amp; Verify Snort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896112"/>
            <a:ext cx="10515600" cy="347472"/>
          </a:xfrm>
          <a:prstGeom prst="rect">
            <a:avLst/>
          </a:prstGeom>
          <a:noFill/>
        </p:spPr>
        <p:txBody>
          <a:bodyPr wrap="none" lIns="36576" rIns="36576" tIns="27432" bIns="27432" anchor="t">
            <a:spAutoFit/>
          </a:bodyPr>
          <a:lstStyle/>
          <a:p>
            <a:pPr algn="l"/>
            <a:r>
              <a:rPr sz="1150" b="0">
                <a:solidFill>
                  <a:srgbClr val="AAB7CF"/>
                </a:solidFill>
                <a:latin typeface="Aptos"/>
              </a:rPr>
              <a:t>Install the IDS and validate the configuration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09960" y="6355080"/>
            <a:ext cx="502920" cy="228600"/>
          </a:xfrm>
          <a:prstGeom prst="rect">
            <a:avLst/>
          </a:prstGeom>
          <a:noFill/>
        </p:spPr>
        <p:txBody>
          <a:bodyPr wrap="none" lIns="36576" rIns="36576" tIns="27432" bIns="27432" anchor="t">
            <a:spAutoFit/>
          </a:bodyPr>
          <a:lstStyle/>
          <a:p>
            <a:pPr algn="r"/>
            <a:r>
              <a:rPr sz="1000" b="1">
                <a:solidFill>
                  <a:srgbClr val="AAB7CF"/>
                </a:solidFill>
                <a:latin typeface="Aptos"/>
              </a:rPr>
              <a:t>06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1325880"/>
            <a:ext cx="5303520" cy="438912"/>
          </a:xfrm>
          <a:prstGeom prst="roundRect">
            <a:avLst/>
          </a:prstGeom>
          <a:solidFill>
            <a:srgbClr val="1B2642"/>
          </a:solidFill>
          <a:ln>
            <a:solidFill>
              <a:srgbClr val="1B26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94360" y="1325880"/>
            <a:ext cx="64008" cy="438912"/>
          </a:xfrm>
          <a:prstGeom prst="roundRect">
            <a:avLst/>
          </a:prstGeom>
          <a:solidFill>
            <a:srgbClr val="2BD3FF"/>
          </a:solidFill>
          <a:ln>
            <a:solidFill>
              <a:srgbClr val="2BD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58952" y="1389888"/>
            <a:ext cx="5074920" cy="256032"/>
          </a:xfrm>
          <a:prstGeom prst="rect">
            <a:avLst/>
          </a:prstGeom>
          <a:noFill/>
        </p:spPr>
        <p:txBody>
          <a:bodyPr wrap="none" lIns="36576" rIns="36576" tIns="27432" bIns="27432" anchor="t">
            <a:spAutoFit/>
          </a:bodyPr>
          <a:lstStyle/>
          <a:p>
            <a:pPr algn="l"/>
            <a:r>
              <a:rPr sz="1400" b="1">
                <a:solidFill>
                  <a:srgbClr val="F5F8FF"/>
                </a:solidFill>
                <a:latin typeface="Aptos"/>
              </a:rPr>
              <a:t>Install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1901952"/>
            <a:ext cx="4846320" cy="1051560"/>
          </a:xfrm>
          <a:prstGeom prst="roundRect">
            <a:avLst/>
          </a:prstGeom>
          <a:solidFill>
            <a:srgbClr val="070B18"/>
          </a:solidFill>
          <a:ln>
            <a:solidFill>
              <a:srgbClr val="2E3D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822960" y="1901952"/>
            <a:ext cx="54864" cy="1051560"/>
          </a:xfrm>
          <a:prstGeom prst="roundRect">
            <a:avLst/>
          </a:prstGeom>
          <a:solidFill>
            <a:srgbClr val="2BD3FF"/>
          </a:solidFill>
          <a:ln>
            <a:solidFill>
              <a:srgbClr val="2BD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87552" y="2011680"/>
            <a:ext cx="4572000" cy="868680"/>
          </a:xfrm>
          <a:prstGeom prst="rect">
            <a:avLst/>
          </a:prstGeom>
          <a:noFill/>
        </p:spPr>
        <p:txBody>
          <a:bodyPr wrap="none" lIns="36576" rIns="36576" tIns="27432" bIns="27432" anchor="t">
            <a:spAutoFit/>
          </a:bodyPr>
          <a:lstStyle/>
          <a:p>
            <a:pPr algn="l"/>
            <a:r>
              <a:rPr sz="1300" b="0">
                <a:solidFill>
                  <a:srgbClr val="D7E1F2"/>
                </a:solidFill>
                <a:latin typeface="Consolas"/>
              </a:rPr>
              <a:t>sudo apt install snort -y
snort -V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94360" y="3246120"/>
            <a:ext cx="5303520" cy="438912"/>
          </a:xfrm>
          <a:prstGeom prst="roundRect">
            <a:avLst/>
          </a:prstGeom>
          <a:solidFill>
            <a:srgbClr val="1B2642"/>
          </a:solidFill>
          <a:ln>
            <a:solidFill>
              <a:srgbClr val="1B26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594360" y="3246120"/>
            <a:ext cx="64008" cy="438912"/>
          </a:xfrm>
          <a:prstGeom prst="roundRect">
            <a:avLst/>
          </a:prstGeom>
          <a:solidFill>
            <a:srgbClr val="9D5CFF"/>
          </a:solidFill>
          <a:ln>
            <a:solidFill>
              <a:srgbClr val="9D5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58952" y="3310127"/>
            <a:ext cx="5074920" cy="256032"/>
          </a:xfrm>
          <a:prstGeom prst="rect">
            <a:avLst/>
          </a:prstGeom>
          <a:noFill/>
        </p:spPr>
        <p:txBody>
          <a:bodyPr wrap="none" lIns="36576" rIns="36576" tIns="27432" bIns="27432" anchor="t">
            <a:spAutoFit/>
          </a:bodyPr>
          <a:lstStyle/>
          <a:p>
            <a:pPr algn="l"/>
            <a:r>
              <a:rPr sz="1400" b="1">
                <a:solidFill>
                  <a:srgbClr val="F5F8FF"/>
                </a:solidFill>
                <a:latin typeface="Aptos"/>
              </a:rPr>
              <a:t>Test configuration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2960" y="3822191"/>
            <a:ext cx="4846320" cy="777240"/>
          </a:xfrm>
          <a:prstGeom prst="roundRect">
            <a:avLst/>
          </a:prstGeom>
          <a:solidFill>
            <a:srgbClr val="070B18"/>
          </a:solidFill>
          <a:ln>
            <a:solidFill>
              <a:srgbClr val="2E3D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22960" y="3822191"/>
            <a:ext cx="54864" cy="777240"/>
          </a:xfrm>
          <a:prstGeom prst="roundRect">
            <a:avLst/>
          </a:prstGeom>
          <a:solidFill>
            <a:srgbClr val="9D5CFF"/>
          </a:solidFill>
          <a:ln>
            <a:solidFill>
              <a:srgbClr val="9D5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87552" y="3931920"/>
            <a:ext cx="4572000" cy="594359"/>
          </a:xfrm>
          <a:prstGeom prst="rect">
            <a:avLst/>
          </a:prstGeom>
          <a:noFill/>
        </p:spPr>
        <p:txBody>
          <a:bodyPr wrap="none" lIns="36576" rIns="36576" tIns="27432" bIns="27432" anchor="t">
            <a:spAutoFit/>
          </a:bodyPr>
          <a:lstStyle/>
          <a:p>
            <a:pPr algn="l"/>
            <a:r>
              <a:rPr sz="1250" b="0">
                <a:solidFill>
                  <a:srgbClr val="D7E1F2"/>
                </a:solidFill>
                <a:latin typeface="Consolas"/>
              </a:rPr>
              <a:t>sudo snort -T -c /etc/snort/snort.conf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1325880"/>
            <a:ext cx="5394960" cy="438912"/>
          </a:xfrm>
          <a:prstGeom prst="roundRect">
            <a:avLst/>
          </a:prstGeom>
          <a:solidFill>
            <a:srgbClr val="1B2642"/>
          </a:solidFill>
          <a:ln>
            <a:solidFill>
              <a:srgbClr val="1B26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6172200" y="1325880"/>
            <a:ext cx="64008" cy="438912"/>
          </a:xfrm>
          <a:prstGeom prst="roundRect">
            <a:avLst/>
          </a:prstGeom>
          <a:solidFill>
            <a:srgbClr val="46DD97"/>
          </a:solidFill>
          <a:ln>
            <a:solidFill>
              <a:srgbClr val="46DD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36792" y="1389888"/>
            <a:ext cx="5166360" cy="256032"/>
          </a:xfrm>
          <a:prstGeom prst="rect">
            <a:avLst/>
          </a:prstGeom>
          <a:noFill/>
        </p:spPr>
        <p:txBody>
          <a:bodyPr wrap="none" lIns="36576" rIns="36576" tIns="27432" bIns="27432" anchor="t">
            <a:spAutoFit/>
          </a:bodyPr>
          <a:lstStyle/>
          <a:p>
            <a:pPr algn="l"/>
            <a:r>
              <a:rPr sz="1400" b="1">
                <a:solidFill>
                  <a:srgbClr val="F5F8FF"/>
                </a:solidFill>
                <a:latin typeface="Aptos"/>
              </a:rPr>
              <a:t>Start monitoring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400800" y="1901952"/>
            <a:ext cx="4892040" cy="1143000"/>
          </a:xfrm>
          <a:prstGeom prst="roundRect">
            <a:avLst/>
          </a:prstGeom>
          <a:solidFill>
            <a:srgbClr val="070B18"/>
          </a:solidFill>
          <a:ln>
            <a:solidFill>
              <a:srgbClr val="2E3D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6400800" y="1901952"/>
            <a:ext cx="54864" cy="1143000"/>
          </a:xfrm>
          <a:prstGeom prst="roundRect">
            <a:avLst/>
          </a:prstGeom>
          <a:solidFill>
            <a:srgbClr val="46DD97"/>
          </a:solidFill>
          <a:ln>
            <a:solidFill>
              <a:srgbClr val="46DD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565392" y="2011680"/>
            <a:ext cx="4617720" cy="960120"/>
          </a:xfrm>
          <a:prstGeom prst="rect">
            <a:avLst/>
          </a:prstGeom>
          <a:noFill/>
        </p:spPr>
        <p:txBody>
          <a:bodyPr wrap="none" lIns="36576" rIns="36576" tIns="27432" bIns="27432" anchor="t">
            <a:spAutoFit/>
          </a:bodyPr>
          <a:lstStyle/>
          <a:p>
            <a:pPr algn="l"/>
            <a:r>
              <a:rPr sz="1180" b="0">
                <a:solidFill>
                  <a:srgbClr val="D7E1F2"/>
                </a:solidFill>
                <a:latin typeface="Consolas"/>
              </a:rPr>
              <a:t>sudo snort -A console -q \
-c /etc/snort/snort.conf -i &lt;INTERFACE&gt;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46520" y="3429000"/>
            <a:ext cx="1188720" cy="274320"/>
          </a:xfrm>
          <a:prstGeom prst="rect">
            <a:avLst/>
          </a:prstGeom>
          <a:noFill/>
        </p:spPr>
        <p:txBody>
          <a:bodyPr wrap="none" lIns="36576" rIns="36576" tIns="27432" bIns="27432" anchor="t">
            <a:spAutoFit/>
          </a:bodyPr>
          <a:lstStyle/>
          <a:p>
            <a:pPr algn="l"/>
            <a:r>
              <a:rPr sz="1200" b="1">
                <a:solidFill>
                  <a:srgbClr val="46DD97"/>
                </a:solidFill>
                <a:latin typeface="Aptos"/>
              </a:rPr>
              <a:t>Success path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46520" y="3840480"/>
            <a:ext cx="4709160" cy="594360"/>
          </a:xfrm>
          <a:prstGeom prst="rect">
            <a:avLst/>
          </a:prstGeom>
          <a:noFill/>
        </p:spPr>
        <p:txBody>
          <a:bodyPr wrap="none" lIns="36576" rIns="36576" tIns="27432" bIns="27432" anchor="t">
            <a:spAutoFit/>
          </a:bodyPr>
          <a:lstStyle/>
          <a:p>
            <a:pPr algn="l"/>
            <a:r>
              <a:rPr sz="1600" b="1">
                <a:solidFill>
                  <a:srgbClr val="F5F8FF"/>
                </a:solidFill>
                <a:latin typeface="Aptos"/>
              </a:rPr>
              <a:t>Version ✓   Config test ✓   Interface ✓   Console ready ✓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995160" y="5074920"/>
            <a:ext cx="3886200" cy="310896"/>
          </a:xfrm>
          <a:prstGeom prst="roundRect">
            <a:avLst/>
          </a:prstGeom>
          <a:solidFill>
            <a:srgbClr val="FFA94A"/>
          </a:solidFill>
          <a:ln>
            <a:solidFill>
              <a:srgbClr val="FFA9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031736" y="5120640"/>
            <a:ext cx="3813048" cy="182880"/>
          </a:xfrm>
          <a:prstGeom prst="rect">
            <a:avLst/>
          </a:prstGeom>
          <a:noFill/>
        </p:spPr>
        <p:txBody>
          <a:bodyPr wrap="none" lIns="36576" rIns="36576" tIns="27432" bIns="27432" anchor="t">
            <a:spAutoFit/>
          </a:bodyPr>
          <a:lstStyle/>
          <a:p>
            <a:pPr algn="ctr"/>
            <a:r>
              <a:rPr sz="1050" b="1">
                <a:solidFill>
                  <a:srgbClr val="0A0F1E"/>
                </a:solidFill>
                <a:latin typeface="Aptos"/>
              </a:rPr>
              <a:t>Do not skip -T before testing rules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FA94A"/>
          </a:solidFill>
          <a:ln>
            <a:solidFill>
              <a:srgbClr val="FFA9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789920" y="228600"/>
            <a:ext cx="1005840" cy="73152"/>
          </a:xfrm>
          <a:prstGeom prst="roundRect">
            <a:avLst/>
          </a:prstGeom>
          <a:solidFill>
            <a:srgbClr val="FFA94A"/>
          </a:solidFill>
          <a:ln>
            <a:solidFill>
              <a:srgbClr val="FFA9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1109960" y="384048"/>
            <a:ext cx="685800" cy="45720"/>
          </a:xfrm>
          <a:prstGeom prst="roundRect">
            <a:avLst/>
          </a:prstGeom>
          <a:solidFill>
            <a:srgbClr val="9D5CFF"/>
          </a:solidFill>
          <a:ln>
            <a:solidFill>
              <a:srgbClr val="9D5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347472"/>
            <a:ext cx="9144000" cy="502920"/>
          </a:xfrm>
          <a:prstGeom prst="rect">
            <a:avLst/>
          </a:prstGeom>
          <a:noFill/>
        </p:spPr>
        <p:txBody>
          <a:bodyPr wrap="none" lIns="36576" rIns="36576" tIns="27432" bIns="27432" anchor="t">
            <a:spAutoFit/>
          </a:bodyPr>
          <a:lstStyle/>
          <a:p>
            <a:pPr algn="l"/>
            <a:r>
              <a:rPr sz="2700" b="1">
                <a:solidFill>
                  <a:srgbClr val="F5F8FF"/>
                </a:solidFill>
                <a:latin typeface="Aptos"/>
              </a:rPr>
              <a:t>Snort Rule Anatomy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896112"/>
            <a:ext cx="10515600" cy="347472"/>
          </a:xfrm>
          <a:prstGeom prst="rect">
            <a:avLst/>
          </a:prstGeom>
          <a:noFill/>
        </p:spPr>
        <p:txBody>
          <a:bodyPr wrap="none" lIns="36576" rIns="36576" tIns="27432" bIns="27432" anchor="t">
            <a:spAutoFit/>
          </a:bodyPr>
          <a:lstStyle/>
          <a:p>
            <a:pPr algn="l"/>
            <a:r>
              <a:rPr sz="1150" b="0">
                <a:solidFill>
                  <a:srgbClr val="AAB7CF"/>
                </a:solidFill>
                <a:latin typeface="Aptos"/>
              </a:rPr>
              <a:t>Understand the pattern before writing custom detections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09960" y="6355080"/>
            <a:ext cx="502920" cy="228600"/>
          </a:xfrm>
          <a:prstGeom prst="rect">
            <a:avLst/>
          </a:prstGeom>
          <a:noFill/>
        </p:spPr>
        <p:txBody>
          <a:bodyPr wrap="none" lIns="36576" rIns="36576" tIns="27432" bIns="27432" anchor="t">
            <a:spAutoFit/>
          </a:bodyPr>
          <a:lstStyle/>
          <a:p>
            <a:pPr algn="r"/>
            <a:r>
              <a:rPr sz="1000" b="1">
                <a:solidFill>
                  <a:srgbClr val="AAB7CF"/>
                </a:solidFill>
                <a:latin typeface="Aptos"/>
              </a:rPr>
              <a:t>07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325880"/>
            <a:ext cx="10835640" cy="914400"/>
          </a:xfrm>
          <a:prstGeom prst="roundRect">
            <a:avLst/>
          </a:prstGeom>
          <a:solidFill>
            <a:srgbClr val="070B18"/>
          </a:solidFill>
          <a:ln>
            <a:solidFill>
              <a:srgbClr val="2E3D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85800" y="1325880"/>
            <a:ext cx="54864" cy="914400"/>
          </a:xfrm>
          <a:prstGeom prst="roundRect">
            <a:avLst/>
          </a:prstGeom>
          <a:solidFill>
            <a:srgbClr val="FFA94A"/>
          </a:solidFill>
          <a:ln>
            <a:solidFill>
              <a:srgbClr val="FFA9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50392" y="1435607"/>
            <a:ext cx="10561319" cy="731520"/>
          </a:xfrm>
          <a:prstGeom prst="rect">
            <a:avLst/>
          </a:prstGeom>
          <a:noFill/>
        </p:spPr>
        <p:txBody>
          <a:bodyPr wrap="none" lIns="36576" rIns="36576" tIns="27432" bIns="27432" anchor="t">
            <a:spAutoFit/>
          </a:bodyPr>
          <a:lstStyle/>
          <a:p>
            <a:pPr algn="l"/>
            <a:r>
              <a:rPr sz="1230" b="0">
                <a:solidFill>
                  <a:srgbClr val="D7E1F2"/>
                </a:solidFill>
                <a:latin typeface="Consolas"/>
              </a:rPr>
              <a:t>alert icmp any any -&gt; any any (msg:"WEEK9 ICMP Ping Detected"; sid:1000001; rev:1;)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2743200"/>
            <a:ext cx="1664208" cy="1234440"/>
          </a:xfrm>
          <a:prstGeom prst="roundRect">
            <a:avLst/>
          </a:prstGeom>
          <a:solidFill>
            <a:srgbClr val="161F37"/>
          </a:solidFill>
          <a:ln>
            <a:solidFill>
              <a:srgbClr val="2BD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58952" y="2971800"/>
            <a:ext cx="1517904" cy="201168"/>
          </a:xfrm>
          <a:prstGeom prst="rect">
            <a:avLst/>
          </a:prstGeom>
          <a:noFill/>
        </p:spPr>
        <p:txBody>
          <a:bodyPr wrap="none" lIns="36576" rIns="36576" tIns="27432" bIns="27432" anchor="t">
            <a:spAutoFit/>
          </a:bodyPr>
          <a:lstStyle/>
          <a:p>
            <a:pPr algn="ctr"/>
            <a:r>
              <a:rPr sz="1000" b="1">
                <a:solidFill>
                  <a:srgbClr val="2BD3FF"/>
                </a:solidFill>
                <a:latin typeface="Aptos"/>
              </a:rPr>
              <a:t>ACTION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58952" y="3401568"/>
            <a:ext cx="1517904" cy="274320"/>
          </a:xfrm>
          <a:prstGeom prst="rect">
            <a:avLst/>
          </a:prstGeom>
          <a:noFill/>
        </p:spPr>
        <p:txBody>
          <a:bodyPr wrap="none" lIns="36576" rIns="36576" tIns="27432" bIns="27432" anchor="t">
            <a:spAutoFit/>
          </a:bodyPr>
          <a:lstStyle/>
          <a:p>
            <a:pPr algn="ctr"/>
            <a:r>
              <a:rPr sz="1300" b="1">
                <a:solidFill>
                  <a:srgbClr val="F5F8FF"/>
                </a:solidFill>
                <a:latin typeface="Aptos"/>
              </a:rPr>
              <a:t>alert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496312" y="2743200"/>
            <a:ext cx="1664208" cy="1234440"/>
          </a:xfrm>
          <a:prstGeom prst="roundRect">
            <a:avLst/>
          </a:prstGeom>
          <a:solidFill>
            <a:srgbClr val="161F37"/>
          </a:solidFill>
          <a:ln>
            <a:solidFill>
              <a:srgbClr val="9D5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569464" y="2971800"/>
            <a:ext cx="1517904" cy="201168"/>
          </a:xfrm>
          <a:prstGeom prst="rect">
            <a:avLst/>
          </a:prstGeom>
          <a:noFill/>
        </p:spPr>
        <p:txBody>
          <a:bodyPr wrap="none" lIns="36576" rIns="36576" tIns="27432" bIns="27432" anchor="t">
            <a:spAutoFit/>
          </a:bodyPr>
          <a:lstStyle/>
          <a:p>
            <a:pPr algn="ctr"/>
            <a:r>
              <a:rPr sz="1000" b="1">
                <a:solidFill>
                  <a:srgbClr val="9D5CFF"/>
                </a:solidFill>
                <a:latin typeface="Aptos"/>
              </a:rPr>
              <a:t>PROTOCOL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569464" y="3401568"/>
            <a:ext cx="1517904" cy="274320"/>
          </a:xfrm>
          <a:prstGeom prst="rect">
            <a:avLst/>
          </a:prstGeom>
          <a:noFill/>
        </p:spPr>
        <p:txBody>
          <a:bodyPr wrap="none" lIns="36576" rIns="36576" tIns="27432" bIns="27432" anchor="t">
            <a:spAutoFit/>
          </a:bodyPr>
          <a:lstStyle/>
          <a:p>
            <a:pPr algn="ctr"/>
            <a:r>
              <a:rPr sz="1300" b="1">
                <a:solidFill>
                  <a:srgbClr val="F5F8FF"/>
                </a:solidFill>
                <a:latin typeface="Aptos"/>
              </a:rPr>
              <a:t>icmp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306824" y="2743200"/>
            <a:ext cx="1664208" cy="1234440"/>
          </a:xfrm>
          <a:prstGeom prst="roundRect">
            <a:avLst/>
          </a:prstGeom>
          <a:solidFill>
            <a:srgbClr val="161F37"/>
          </a:solidFill>
          <a:ln>
            <a:solidFill>
              <a:srgbClr val="4E7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379976" y="2971800"/>
            <a:ext cx="1517904" cy="201168"/>
          </a:xfrm>
          <a:prstGeom prst="rect">
            <a:avLst/>
          </a:prstGeom>
          <a:noFill/>
        </p:spPr>
        <p:txBody>
          <a:bodyPr wrap="none" lIns="36576" rIns="36576" tIns="27432" bIns="27432" anchor="t">
            <a:spAutoFit/>
          </a:bodyPr>
          <a:lstStyle/>
          <a:p>
            <a:pPr algn="ctr"/>
            <a:r>
              <a:rPr sz="1000" b="1">
                <a:solidFill>
                  <a:srgbClr val="4E7EFF"/>
                </a:solidFill>
                <a:latin typeface="Aptos"/>
              </a:rPr>
              <a:t>SOURCE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79976" y="3401568"/>
            <a:ext cx="1517904" cy="274320"/>
          </a:xfrm>
          <a:prstGeom prst="rect">
            <a:avLst/>
          </a:prstGeom>
          <a:noFill/>
        </p:spPr>
        <p:txBody>
          <a:bodyPr wrap="none" lIns="36576" rIns="36576" tIns="27432" bIns="27432" anchor="t">
            <a:spAutoFit/>
          </a:bodyPr>
          <a:lstStyle/>
          <a:p>
            <a:pPr algn="ctr"/>
            <a:r>
              <a:rPr sz="1300" b="1">
                <a:solidFill>
                  <a:srgbClr val="F5F8FF"/>
                </a:solidFill>
                <a:latin typeface="Aptos"/>
              </a:rPr>
              <a:t>any any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17336" y="2743200"/>
            <a:ext cx="1664208" cy="1234440"/>
          </a:xfrm>
          <a:prstGeom prst="roundRect">
            <a:avLst/>
          </a:prstGeom>
          <a:solidFill>
            <a:srgbClr val="161F37"/>
          </a:solidFill>
          <a:ln>
            <a:solidFill>
              <a:srgbClr val="FFA9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190488" y="2971800"/>
            <a:ext cx="1517904" cy="201168"/>
          </a:xfrm>
          <a:prstGeom prst="rect">
            <a:avLst/>
          </a:prstGeom>
          <a:noFill/>
        </p:spPr>
        <p:txBody>
          <a:bodyPr wrap="none" lIns="36576" rIns="36576" tIns="27432" bIns="27432" anchor="t">
            <a:spAutoFit/>
          </a:bodyPr>
          <a:lstStyle/>
          <a:p>
            <a:pPr algn="ctr"/>
            <a:r>
              <a:rPr sz="1000" b="1">
                <a:solidFill>
                  <a:srgbClr val="FFA94A"/>
                </a:solidFill>
                <a:latin typeface="Aptos"/>
              </a:rPr>
              <a:t>DIRECTION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190488" y="3401568"/>
            <a:ext cx="1517904" cy="274320"/>
          </a:xfrm>
          <a:prstGeom prst="rect">
            <a:avLst/>
          </a:prstGeom>
          <a:noFill/>
        </p:spPr>
        <p:txBody>
          <a:bodyPr wrap="none" lIns="36576" rIns="36576" tIns="27432" bIns="27432" anchor="t">
            <a:spAutoFit/>
          </a:bodyPr>
          <a:lstStyle/>
          <a:p>
            <a:pPr algn="ctr"/>
            <a:r>
              <a:rPr sz="1300" b="1">
                <a:solidFill>
                  <a:srgbClr val="F5F8FF"/>
                </a:solidFill>
                <a:latin typeface="Aptos"/>
              </a:rPr>
              <a:t>-&gt;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927848" y="2743200"/>
            <a:ext cx="1783080" cy="1234440"/>
          </a:xfrm>
          <a:prstGeom prst="roundRect">
            <a:avLst/>
          </a:prstGeom>
          <a:solidFill>
            <a:srgbClr val="161F37"/>
          </a:solidFill>
          <a:ln>
            <a:solidFill>
              <a:srgbClr val="FF52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001000" y="2971800"/>
            <a:ext cx="1636776" cy="201168"/>
          </a:xfrm>
          <a:prstGeom prst="rect">
            <a:avLst/>
          </a:prstGeom>
          <a:noFill/>
        </p:spPr>
        <p:txBody>
          <a:bodyPr wrap="none" lIns="36576" rIns="36576" tIns="27432" bIns="27432" anchor="t">
            <a:spAutoFit/>
          </a:bodyPr>
          <a:lstStyle/>
          <a:p>
            <a:pPr algn="ctr"/>
            <a:r>
              <a:rPr sz="1000" b="1">
                <a:solidFill>
                  <a:srgbClr val="FF5299"/>
                </a:solidFill>
                <a:latin typeface="Aptos"/>
              </a:rPr>
              <a:t>DESTINATION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001000" y="3401568"/>
            <a:ext cx="1636776" cy="274320"/>
          </a:xfrm>
          <a:prstGeom prst="rect">
            <a:avLst/>
          </a:prstGeom>
          <a:noFill/>
        </p:spPr>
        <p:txBody>
          <a:bodyPr wrap="none" lIns="36576" rIns="36576" tIns="27432" bIns="27432" anchor="t">
            <a:spAutoFit/>
          </a:bodyPr>
          <a:lstStyle/>
          <a:p>
            <a:pPr algn="ctr"/>
            <a:r>
              <a:rPr sz="1300" b="1">
                <a:solidFill>
                  <a:srgbClr val="F5F8FF"/>
                </a:solidFill>
                <a:latin typeface="Aptos"/>
              </a:rPr>
              <a:t>any any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857232" y="2743200"/>
            <a:ext cx="1664208" cy="1234440"/>
          </a:xfrm>
          <a:prstGeom prst="roundRect">
            <a:avLst/>
          </a:prstGeom>
          <a:solidFill>
            <a:srgbClr val="161F37"/>
          </a:solidFill>
          <a:ln>
            <a:solidFill>
              <a:srgbClr val="46DD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930384" y="2971800"/>
            <a:ext cx="1517904" cy="201168"/>
          </a:xfrm>
          <a:prstGeom prst="rect">
            <a:avLst/>
          </a:prstGeom>
          <a:noFill/>
        </p:spPr>
        <p:txBody>
          <a:bodyPr wrap="none" lIns="36576" rIns="36576" tIns="27432" bIns="27432" anchor="t">
            <a:spAutoFit/>
          </a:bodyPr>
          <a:lstStyle/>
          <a:p>
            <a:pPr algn="ctr"/>
            <a:r>
              <a:rPr sz="1000" b="1">
                <a:solidFill>
                  <a:srgbClr val="46DD97"/>
                </a:solidFill>
                <a:latin typeface="Aptos"/>
              </a:rPr>
              <a:t>OPTIONS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930384" y="3401568"/>
            <a:ext cx="1517904" cy="274320"/>
          </a:xfrm>
          <a:prstGeom prst="rect">
            <a:avLst/>
          </a:prstGeom>
          <a:noFill/>
        </p:spPr>
        <p:txBody>
          <a:bodyPr wrap="none" lIns="36576" rIns="36576" tIns="27432" bIns="27432" anchor="t">
            <a:spAutoFit/>
          </a:bodyPr>
          <a:lstStyle/>
          <a:p>
            <a:pPr algn="ctr"/>
            <a:r>
              <a:rPr sz="1300" b="1">
                <a:solidFill>
                  <a:srgbClr val="F5F8FF"/>
                </a:solidFill>
                <a:latin typeface="Aptos"/>
              </a:rPr>
              <a:t>msg / sid / rev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05840" y="4892040"/>
            <a:ext cx="10149840" cy="502920"/>
          </a:xfrm>
          <a:prstGeom prst="rect">
            <a:avLst/>
          </a:prstGeom>
          <a:noFill/>
        </p:spPr>
        <p:txBody>
          <a:bodyPr wrap="none" lIns="36576" rIns="36576" tIns="27432" bIns="27432" anchor="t">
            <a:spAutoFit/>
          </a:bodyPr>
          <a:lstStyle/>
          <a:p>
            <a:pPr algn="ctr"/>
            <a:r>
              <a:rPr sz="1500" b="1">
                <a:solidFill>
                  <a:srgbClr val="F5F8FF"/>
                </a:solidFill>
                <a:latin typeface="Aptos"/>
              </a:rPr>
              <a:t>Key idea: the rule describes WHAT to inspect and WHAT message to raise when traffic matches.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F5299"/>
          </a:solidFill>
          <a:ln>
            <a:solidFill>
              <a:srgbClr val="FF52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789920" y="228600"/>
            <a:ext cx="1005840" cy="73152"/>
          </a:xfrm>
          <a:prstGeom prst="roundRect">
            <a:avLst/>
          </a:prstGeom>
          <a:solidFill>
            <a:srgbClr val="FF5299"/>
          </a:solidFill>
          <a:ln>
            <a:solidFill>
              <a:srgbClr val="FF52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1109960" y="384048"/>
            <a:ext cx="685800" cy="45720"/>
          </a:xfrm>
          <a:prstGeom prst="roundRect">
            <a:avLst/>
          </a:prstGeom>
          <a:solidFill>
            <a:srgbClr val="9D5CFF"/>
          </a:solidFill>
          <a:ln>
            <a:solidFill>
              <a:srgbClr val="9D5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347472"/>
            <a:ext cx="9144000" cy="502920"/>
          </a:xfrm>
          <a:prstGeom prst="rect">
            <a:avLst/>
          </a:prstGeom>
          <a:noFill/>
        </p:spPr>
        <p:txBody>
          <a:bodyPr wrap="none" lIns="36576" rIns="36576" tIns="27432" bIns="27432" anchor="t">
            <a:spAutoFit/>
          </a:bodyPr>
          <a:lstStyle/>
          <a:p>
            <a:pPr algn="l"/>
            <a:r>
              <a:rPr sz="2700" b="1">
                <a:solidFill>
                  <a:srgbClr val="F5F8FF"/>
                </a:solidFill>
                <a:latin typeface="Aptos"/>
              </a:rPr>
              <a:t>Custom Rules: ICMP + HTTP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896112"/>
            <a:ext cx="10515600" cy="347472"/>
          </a:xfrm>
          <a:prstGeom prst="rect">
            <a:avLst/>
          </a:prstGeom>
          <a:noFill/>
        </p:spPr>
        <p:txBody>
          <a:bodyPr wrap="none" lIns="36576" rIns="36576" tIns="27432" bIns="27432" anchor="t">
            <a:spAutoFit/>
          </a:bodyPr>
          <a:lstStyle/>
          <a:p>
            <a:pPr algn="l"/>
            <a:r>
              <a:rPr sz="1150" b="0">
                <a:solidFill>
                  <a:srgbClr val="AAB7CF"/>
                </a:solidFill>
                <a:latin typeface="Aptos"/>
              </a:rPr>
              <a:t>Two simple detections required for Week 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09960" y="6355080"/>
            <a:ext cx="502920" cy="228600"/>
          </a:xfrm>
          <a:prstGeom prst="rect">
            <a:avLst/>
          </a:prstGeom>
          <a:noFill/>
        </p:spPr>
        <p:txBody>
          <a:bodyPr wrap="none" lIns="36576" rIns="36576" tIns="27432" bIns="27432" anchor="t">
            <a:spAutoFit/>
          </a:bodyPr>
          <a:lstStyle/>
          <a:p>
            <a:pPr algn="r"/>
            <a:r>
              <a:rPr sz="1000" b="1">
                <a:solidFill>
                  <a:srgbClr val="AAB7CF"/>
                </a:solidFill>
                <a:latin typeface="Aptos"/>
              </a:rPr>
              <a:t>08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1325880"/>
            <a:ext cx="5394960" cy="438912"/>
          </a:xfrm>
          <a:prstGeom prst="roundRect">
            <a:avLst/>
          </a:prstGeom>
          <a:solidFill>
            <a:srgbClr val="1B2642"/>
          </a:solidFill>
          <a:ln>
            <a:solidFill>
              <a:srgbClr val="1B26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94360" y="1325880"/>
            <a:ext cx="64008" cy="438912"/>
          </a:xfrm>
          <a:prstGeom prst="roundRect">
            <a:avLst/>
          </a:prstGeom>
          <a:solidFill>
            <a:srgbClr val="2BD3FF"/>
          </a:solidFill>
          <a:ln>
            <a:solidFill>
              <a:srgbClr val="2BD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58952" y="1389888"/>
            <a:ext cx="5166360" cy="256032"/>
          </a:xfrm>
          <a:prstGeom prst="rect">
            <a:avLst/>
          </a:prstGeom>
          <a:noFill/>
        </p:spPr>
        <p:txBody>
          <a:bodyPr wrap="none" lIns="36576" rIns="36576" tIns="27432" bIns="27432" anchor="t">
            <a:spAutoFit/>
          </a:bodyPr>
          <a:lstStyle/>
          <a:p>
            <a:pPr algn="l"/>
            <a:r>
              <a:rPr sz="1400" b="1">
                <a:solidFill>
                  <a:srgbClr val="F5F8FF"/>
                </a:solidFill>
                <a:latin typeface="Aptos"/>
              </a:rPr>
              <a:t>Rule 1 • ICMP / Ping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7240" y="1920240"/>
            <a:ext cx="4983480" cy="1188720"/>
          </a:xfrm>
          <a:prstGeom prst="roundRect">
            <a:avLst/>
          </a:prstGeom>
          <a:solidFill>
            <a:srgbClr val="070B18"/>
          </a:solidFill>
          <a:ln>
            <a:solidFill>
              <a:srgbClr val="2E3D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777240" y="1920240"/>
            <a:ext cx="54864" cy="1188720"/>
          </a:xfrm>
          <a:prstGeom prst="roundRect">
            <a:avLst/>
          </a:prstGeom>
          <a:solidFill>
            <a:srgbClr val="2BD3FF"/>
          </a:solidFill>
          <a:ln>
            <a:solidFill>
              <a:srgbClr val="2BD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41832" y="2029968"/>
            <a:ext cx="4709160" cy="1005840"/>
          </a:xfrm>
          <a:prstGeom prst="rect">
            <a:avLst/>
          </a:prstGeom>
          <a:noFill/>
        </p:spPr>
        <p:txBody>
          <a:bodyPr wrap="none" lIns="36576" rIns="36576" tIns="27432" bIns="27432" anchor="t">
            <a:spAutoFit/>
          </a:bodyPr>
          <a:lstStyle/>
          <a:p>
            <a:pPr algn="l"/>
            <a:r>
              <a:rPr sz="1160" b="0">
                <a:solidFill>
                  <a:srgbClr val="D7E1F2"/>
                </a:solidFill>
                <a:latin typeface="Consolas"/>
              </a:rPr>
              <a:t>alert icmp any any -&gt; any any (msg:"WEEK9 ICMP Ping Detected"; sid:1000001; rev:1;)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3337560"/>
            <a:ext cx="4754880" cy="640080"/>
          </a:xfrm>
          <a:prstGeom prst="rect">
            <a:avLst/>
          </a:prstGeom>
          <a:noFill/>
        </p:spPr>
        <p:txBody>
          <a:bodyPr wrap="none" lIns="36576" rIns="36576" tIns="27432" bIns="27432" anchor="t">
            <a:spAutoFit/>
          </a:bodyPr>
          <a:lstStyle/>
          <a:p>
            <a:pPr algn="l"/>
            <a:r>
              <a:rPr sz="1350" b="0">
                <a:solidFill>
                  <a:srgbClr val="F5F8FF"/>
                </a:solidFill>
                <a:latin typeface="Aptos"/>
              </a:rPr>
              <a:t>Detects ICMP traffic such as ping when it crosses the monitored interface.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72200" y="1325880"/>
            <a:ext cx="5394960" cy="438912"/>
          </a:xfrm>
          <a:prstGeom prst="roundRect">
            <a:avLst/>
          </a:prstGeom>
          <a:solidFill>
            <a:srgbClr val="1B2642"/>
          </a:solidFill>
          <a:ln>
            <a:solidFill>
              <a:srgbClr val="1B26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172200" y="1325880"/>
            <a:ext cx="64008" cy="438912"/>
          </a:xfrm>
          <a:prstGeom prst="roundRect">
            <a:avLst/>
          </a:prstGeom>
          <a:solidFill>
            <a:srgbClr val="FF5299"/>
          </a:solidFill>
          <a:ln>
            <a:solidFill>
              <a:srgbClr val="FF52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36792" y="1389888"/>
            <a:ext cx="5166360" cy="256032"/>
          </a:xfrm>
          <a:prstGeom prst="rect">
            <a:avLst/>
          </a:prstGeom>
          <a:noFill/>
        </p:spPr>
        <p:txBody>
          <a:bodyPr wrap="none" lIns="36576" rIns="36576" tIns="27432" bIns="27432" anchor="t">
            <a:spAutoFit/>
          </a:bodyPr>
          <a:lstStyle/>
          <a:p>
            <a:pPr algn="l"/>
            <a:r>
              <a:rPr sz="1400" b="1">
                <a:solidFill>
                  <a:srgbClr val="F5F8FF"/>
                </a:solidFill>
                <a:latin typeface="Aptos"/>
              </a:rPr>
              <a:t>Rule 2 • HTTP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355080" y="1920240"/>
            <a:ext cx="4983480" cy="1188720"/>
          </a:xfrm>
          <a:prstGeom prst="roundRect">
            <a:avLst/>
          </a:prstGeom>
          <a:solidFill>
            <a:srgbClr val="070B18"/>
          </a:solidFill>
          <a:ln>
            <a:solidFill>
              <a:srgbClr val="2E3D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355080" y="1920240"/>
            <a:ext cx="54864" cy="1188720"/>
          </a:xfrm>
          <a:prstGeom prst="roundRect">
            <a:avLst/>
          </a:prstGeom>
          <a:solidFill>
            <a:srgbClr val="FF5299"/>
          </a:solidFill>
          <a:ln>
            <a:solidFill>
              <a:srgbClr val="FF52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19672" y="2029968"/>
            <a:ext cx="4709160" cy="1005840"/>
          </a:xfrm>
          <a:prstGeom prst="rect">
            <a:avLst/>
          </a:prstGeom>
          <a:noFill/>
        </p:spPr>
        <p:txBody>
          <a:bodyPr wrap="none" lIns="36576" rIns="36576" tIns="27432" bIns="27432" anchor="t">
            <a:spAutoFit/>
          </a:bodyPr>
          <a:lstStyle/>
          <a:p>
            <a:pPr algn="l"/>
            <a:r>
              <a:rPr sz="1150" b="0">
                <a:solidFill>
                  <a:srgbClr val="D7E1F2"/>
                </a:solidFill>
                <a:latin typeface="Consolas"/>
              </a:rPr>
              <a:t>alert tcp any any -&gt; any 80 (msg:"WEEK9 HTTP Traffic Detected"; sid:1000002; rev:1;)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0" y="3337560"/>
            <a:ext cx="4754880" cy="777240"/>
          </a:xfrm>
          <a:prstGeom prst="rect">
            <a:avLst/>
          </a:prstGeom>
          <a:noFill/>
        </p:spPr>
        <p:txBody>
          <a:bodyPr wrap="none" lIns="36576" rIns="36576" tIns="27432" bIns="27432" anchor="t">
            <a:spAutoFit/>
          </a:bodyPr>
          <a:lstStyle/>
          <a:p>
            <a:pPr algn="l"/>
            <a:r>
              <a:rPr sz="1350" b="0">
                <a:solidFill>
                  <a:srgbClr val="F5F8FF"/>
                </a:solidFill>
                <a:latin typeface="Aptos"/>
              </a:rPr>
              <a:t>Matches TCP traffic destined for port 80. For a reproducible lab, a local HTTP service can be used.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520440" y="4983480"/>
            <a:ext cx="5166360" cy="310896"/>
          </a:xfrm>
          <a:prstGeom prst="roundRect">
            <a:avLst/>
          </a:prstGeom>
          <a:solidFill>
            <a:srgbClr val="FFA94A"/>
          </a:solidFill>
          <a:ln>
            <a:solidFill>
              <a:srgbClr val="FFA9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557016" y="5029200"/>
            <a:ext cx="5093208" cy="182880"/>
          </a:xfrm>
          <a:prstGeom prst="rect">
            <a:avLst/>
          </a:prstGeom>
          <a:noFill/>
        </p:spPr>
        <p:txBody>
          <a:bodyPr wrap="none" lIns="36576" rIns="36576" tIns="27432" bIns="27432" anchor="t">
            <a:spAutoFit/>
          </a:bodyPr>
          <a:lstStyle/>
          <a:p>
            <a:pPr algn="ctr"/>
            <a:r>
              <a:rPr sz="1050" b="1">
                <a:solidFill>
                  <a:srgbClr val="0A0F1E"/>
                </a:solidFill>
                <a:latin typeface="Aptos"/>
              </a:rPr>
              <a:t>Make sure local.rules is included in snort.conf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4E7EFF"/>
          </a:solidFill>
          <a:ln>
            <a:solidFill>
              <a:srgbClr val="4E7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789920" y="228600"/>
            <a:ext cx="1005840" cy="73152"/>
          </a:xfrm>
          <a:prstGeom prst="roundRect">
            <a:avLst/>
          </a:prstGeom>
          <a:solidFill>
            <a:srgbClr val="4E7EFF"/>
          </a:solidFill>
          <a:ln>
            <a:solidFill>
              <a:srgbClr val="4E7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1109960" y="384048"/>
            <a:ext cx="685800" cy="45720"/>
          </a:xfrm>
          <a:prstGeom prst="roundRect">
            <a:avLst/>
          </a:prstGeom>
          <a:solidFill>
            <a:srgbClr val="9D5CFF"/>
          </a:solidFill>
          <a:ln>
            <a:solidFill>
              <a:srgbClr val="9D5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347472"/>
            <a:ext cx="9144000" cy="502920"/>
          </a:xfrm>
          <a:prstGeom prst="rect">
            <a:avLst/>
          </a:prstGeom>
          <a:noFill/>
        </p:spPr>
        <p:txBody>
          <a:bodyPr wrap="none" lIns="36576" rIns="36576" tIns="27432" bIns="27432" anchor="t">
            <a:spAutoFit/>
          </a:bodyPr>
          <a:lstStyle/>
          <a:p>
            <a:pPr algn="l"/>
            <a:r>
              <a:rPr sz="2700" b="1">
                <a:solidFill>
                  <a:srgbClr val="F5F8FF"/>
                </a:solidFill>
                <a:latin typeface="Aptos"/>
              </a:rPr>
              <a:t>Testing Workflow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896112"/>
            <a:ext cx="10515600" cy="347472"/>
          </a:xfrm>
          <a:prstGeom prst="rect">
            <a:avLst/>
          </a:prstGeom>
          <a:noFill/>
        </p:spPr>
        <p:txBody>
          <a:bodyPr wrap="none" lIns="36576" rIns="36576" tIns="27432" bIns="27432" anchor="t">
            <a:spAutoFit/>
          </a:bodyPr>
          <a:lstStyle/>
          <a:p>
            <a:pPr algn="l"/>
            <a:r>
              <a:rPr sz="1150" b="0">
                <a:solidFill>
                  <a:srgbClr val="AAB7CF"/>
                </a:solidFill>
                <a:latin typeface="Aptos"/>
              </a:rPr>
              <a:t>Generate traffic, observe the interface, validate the alert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09960" y="6355080"/>
            <a:ext cx="502920" cy="228600"/>
          </a:xfrm>
          <a:prstGeom prst="rect">
            <a:avLst/>
          </a:prstGeom>
          <a:noFill/>
        </p:spPr>
        <p:txBody>
          <a:bodyPr wrap="none" lIns="36576" rIns="36576" tIns="27432" bIns="27432" anchor="t">
            <a:spAutoFit/>
          </a:bodyPr>
          <a:lstStyle/>
          <a:p>
            <a:pPr algn="r"/>
            <a:r>
              <a:rPr sz="1000" b="1">
                <a:solidFill>
                  <a:srgbClr val="AAB7CF"/>
                </a:solidFill>
                <a:latin typeface="Aptos"/>
              </a:rPr>
              <a:t>09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1828800"/>
            <a:ext cx="2423160" cy="1508760"/>
          </a:xfrm>
          <a:prstGeom prst="roundRect">
            <a:avLst/>
          </a:prstGeom>
          <a:solidFill>
            <a:srgbClr val="161F37"/>
          </a:solidFill>
          <a:ln>
            <a:solidFill>
              <a:srgbClr val="2BD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31520" y="1993392"/>
            <a:ext cx="502920" cy="502920"/>
          </a:xfrm>
          <a:prstGeom prst="roundRect">
            <a:avLst/>
          </a:prstGeom>
          <a:solidFill>
            <a:srgbClr val="2BD3FF"/>
          </a:solidFill>
          <a:ln>
            <a:solidFill>
              <a:srgbClr val="2BD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2112264"/>
            <a:ext cx="502920" cy="182880"/>
          </a:xfrm>
          <a:prstGeom prst="rect">
            <a:avLst/>
          </a:prstGeom>
          <a:noFill/>
        </p:spPr>
        <p:txBody>
          <a:bodyPr wrap="none" lIns="36576" rIns="36576" tIns="27432" bIns="27432" anchor="t">
            <a:spAutoFit/>
          </a:bodyPr>
          <a:lstStyle/>
          <a:p>
            <a:pPr algn="ctr"/>
            <a:r>
              <a:rPr sz="1100" b="1">
                <a:solidFill>
                  <a:srgbClr val="0A0F1E"/>
                </a:solidFill>
                <a:latin typeface="Aptos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2029968"/>
            <a:ext cx="1417320" cy="320040"/>
          </a:xfrm>
          <a:prstGeom prst="rect">
            <a:avLst/>
          </a:prstGeom>
          <a:noFill/>
        </p:spPr>
        <p:txBody>
          <a:bodyPr wrap="none" lIns="36576" rIns="36576" tIns="27432" bIns="27432" anchor="t">
            <a:spAutoFit/>
          </a:bodyPr>
          <a:lstStyle/>
          <a:p>
            <a:pPr algn="l"/>
            <a:r>
              <a:rPr sz="1350" b="1">
                <a:solidFill>
                  <a:srgbClr val="F5F8FF"/>
                </a:solidFill>
                <a:latin typeface="Aptos"/>
              </a:rPr>
              <a:t>Start Snort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2487168"/>
            <a:ext cx="1417320" cy="320040"/>
          </a:xfrm>
          <a:prstGeom prst="rect">
            <a:avLst/>
          </a:prstGeom>
          <a:noFill/>
        </p:spPr>
        <p:txBody>
          <a:bodyPr wrap="none" lIns="36576" rIns="36576" tIns="27432" bIns="27432" anchor="t">
            <a:spAutoFit/>
          </a:bodyPr>
          <a:lstStyle/>
          <a:p>
            <a:pPr algn="l"/>
            <a:r>
              <a:rPr sz="1100" b="0">
                <a:solidFill>
                  <a:srgbClr val="AAB7CF"/>
                </a:solidFill>
                <a:latin typeface="Aptos"/>
              </a:rPr>
              <a:t>Sensor running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3017520" y="2578608"/>
            <a:ext cx="457200" cy="0"/>
          </a:xfrm>
          <a:prstGeom prst="line">
            <a:avLst/>
          </a:prstGeom>
          <a:ln w="31750">
            <a:solidFill>
              <a:srgbClr val="AAB7C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3474720" y="1828800"/>
            <a:ext cx="2423160" cy="1508760"/>
          </a:xfrm>
          <a:prstGeom prst="roundRect">
            <a:avLst/>
          </a:prstGeom>
          <a:solidFill>
            <a:srgbClr val="161F37"/>
          </a:solidFill>
          <a:ln>
            <a:solidFill>
              <a:srgbClr val="9D5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3611879" y="1993392"/>
            <a:ext cx="502920" cy="502920"/>
          </a:xfrm>
          <a:prstGeom prst="roundRect">
            <a:avLst/>
          </a:prstGeom>
          <a:solidFill>
            <a:srgbClr val="9D5CFF"/>
          </a:solidFill>
          <a:ln>
            <a:solidFill>
              <a:srgbClr val="9D5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11879" y="2112264"/>
            <a:ext cx="502920" cy="182880"/>
          </a:xfrm>
          <a:prstGeom prst="rect">
            <a:avLst/>
          </a:prstGeom>
          <a:noFill/>
        </p:spPr>
        <p:txBody>
          <a:bodyPr wrap="none" lIns="36576" rIns="36576" tIns="27432" bIns="27432" anchor="t">
            <a:spAutoFit/>
          </a:bodyPr>
          <a:lstStyle/>
          <a:p>
            <a:pPr algn="ctr"/>
            <a:r>
              <a:rPr sz="1100" b="1">
                <a:solidFill>
                  <a:srgbClr val="0A0F1E"/>
                </a:solidFill>
                <a:latin typeface="Aptos"/>
              </a:rPr>
              <a:t>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251959" y="2029968"/>
            <a:ext cx="1417320" cy="320040"/>
          </a:xfrm>
          <a:prstGeom prst="rect">
            <a:avLst/>
          </a:prstGeom>
          <a:noFill/>
        </p:spPr>
        <p:txBody>
          <a:bodyPr wrap="none" lIns="36576" rIns="36576" tIns="27432" bIns="27432" anchor="t">
            <a:spAutoFit/>
          </a:bodyPr>
          <a:lstStyle/>
          <a:p>
            <a:pPr algn="l"/>
            <a:r>
              <a:rPr sz="1350" b="1">
                <a:solidFill>
                  <a:srgbClr val="F5F8FF"/>
                </a:solidFill>
                <a:latin typeface="Aptos"/>
              </a:rPr>
              <a:t>Generate ICMP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251959" y="2487168"/>
            <a:ext cx="1417320" cy="320040"/>
          </a:xfrm>
          <a:prstGeom prst="rect">
            <a:avLst/>
          </a:prstGeom>
          <a:noFill/>
        </p:spPr>
        <p:txBody>
          <a:bodyPr wrap="none" lIns="36576" rIns="36576" tIns="27432" bIns="27432" anchor="t">
            <a:spAutoFit/>
          </a:bodyPr>
          <a:lstStyle/>
          <a:p>
            <a:pPr algn="l"/>
            <a:r>
              <a:rPr sz="1100" b="0">
                <a:solidFill>
                  <a:srgbClr val="AAB7CF"/>
                </a:solidFill>
                <a:latin typeface="Aptos"/>
              </a:rPr>
              <a:t>ping target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5897879" y="2578608"/>
            <a:ext cx="457200" cy="0"/>
          </a:xfrm>
          <a:prstGeom prst="line">
            <a:avLst/>
          </a:prstGeom>
          <a:ln w="31750">
            <a:solidFill>
              <a:srgbClr val="AAB7C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6355080" y="1828800"/>
            <a:ext cx="2423160" cy="1508760"/>
          </a:xfrm>
          <a:prstGeom prst="roundRect">
            <a:avLst/>
          </a:prstGeom>
          <a:solidFill>
            <a:srgbClr val="161F37"/>
          </a:solidFill>
          <a:ln>
            <a:solidFill>
              <a:srgbClr val="FFA9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6492240" y="1993392"/>
            <a:ext cx="502920" cy="502920"/>
          </a:xfrm>
          <a:prstGeom prst="roundRect">
            <a:avLst/>
          </a:prstGeom>
          <a:solidFill>
            <a:srgbClr val="FFA94A"/>
          </a:solidFill>
          <a:ln>
            <a:solidFill>
              <a:srgbClr val="FFA9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92240" y="2112264"/>
            <a:ext cx="502920" cy="182880"/>
          </a:xfrm>
          <a:prstGeom prst="rect">
            <a:avLst/>
          </a:prstGeom>
          <a:noFill/>
        </p:spPr>
        <p:txBody>
          <a:bodyPr wrap="none" lIns="36576" rIns="36576" tIns="27432" bIns="27432" anchor="t">
            <a:spAutoFit/>
          </a:bodyPr>
          <a:lstStyle/>
          <a:p>
            <a:pPr algn="ctr"/>
            <a:r>
              <a:rPr sz="1100" b="1">
                <a:solidFill>
                  <a:srgbClr val="0A0F1E"/>
                </a:solidFill>
                <a:latin typeface="Aptos"/>
              </a:rPr>
              <a:t>03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132320" y="2029968"/>
            <a:ext cx="1417320" cy="320040"/>
          </a:xfrm>
          <a:prstGeom prst="rect">
            <a:avLst/>
          </a:prstGeom>
          <a:noFill/>
        </p:spPr>
        <p:txBody>
          <a:bodyPr wrap="none" lIns="36576" rIns="36576" tIns="27432" bIns="27432" anchor="t">
            <a:spAutoFit/>
          </a:bodyPr>
          <a:lstStyle/>
          <a:p>
            <a:pPr algn="l"/>
            <a:r>
              <a:rPr sz="1350" b="1">
                <a:solidFill>
                  <a:srgbClr val="F5F8FF"/>
                </a:solidFill>
                <a:latin typeface="Aptos"/>
              </a:rPr>
              <a:t>Generate HTTP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132320" y="2487168"/>
            <a:ext cx="1417320" cy="320040"/>
          </a:xfrm>
          <a:prstGeom prst="rect">
            <a:avLst/>
          </a:prstGeom>
          <a:noFill/>
        </p:spPr>
        <p:txBody>
          <a:bodyPr wrap="none" lIns="36576" rIns="36576" tIns="27432" bIns="27432" anchor="t">
            <a:spAutoFit/>
          </a:bodyPr>
          <a:lstStyle/>
          <a:p>
            <a:pPr algn="l"/>
            <a:r>
              <a:rPr sz="1100" b="0">
                <a:solidFill>
                  <a:srgbClr val="AAB7CF"/>
                </a:solidFill>
                <a:latin typeface="Aptos"/>
              </a:rPr>
              <a:t>open / curl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8778240" y="2578608"/>
            <a:ext cx="457200" cy="0"/>
          </a:xfrm>
          <a:prstGeom prst="line">
            <a:avLst/>
          </a:prstGeom>
          <a:ln w="31750">
            <a:solidFill>
              <a:srgbClr val="AAB7C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9235440" y="1828800"/>
            <a:ext cx="2423160" cy="1508760"/>
          </a:xfrm>
          <a:prstGeom prst="roundRect">
            <a:avLst/>
          </a:prstGeom>
          <a:solidFill>
            <a:srgbClr val="161F37"/>
          </a:solidFill>
          <a:ln>
            <a:solidFill>
              <a:srgbClr val="FF52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9372600" y="1993392"/>
            <a:ext cx="502920" cy="502920"/>
          </a:xfrm>
          <a:prstGeom prst="roundRect">
            <a:avLst/>
          </a:prstGeom>
          <a:solidFill>
            <a:srgbClr val="FF5299"/>
          </a:solidFill>
          <a:ln>
            <a:solidFill>
              <a:srgbClr val="FF52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372600" y="2112264"/>
            <a:ext cx="502920" cy="182880"/>
          </a:xfrm>
          <a:prstGeom prst="rect">
            <a:avLst/>
          </a:prstGeom>
          <a:noFill/>
        </p:spPr>
        <p:txBody>
          <a:bodyPr wrap="none" lIns="36576" rIns="36576" tIns="27432" bIns="27432" anchor="t">
            <a:spAutoFit/>
          </a:bodyPr>
          <a:lstStyle/>
          <a:p>
            <a:pPr algn="ctr"/>
            <a:r>
              <a:rPr sz="1100" b="1">
                <a:solidFill>
                  <a:srgbClr val="0A0F1E"/>
                </a:solidFill>
                <a:latin typeface="Aptos"/>
              </a:rPr>
              <a:t>04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012680" y="2029968"/>
            <a:ext cx="1417320" cy="320040"/>
          </a:xfrm>
          <a:prstGeom prst="rect">
            <a:avLst/>
          </a:prstGeom>
          <a:noFill/>
        </p:spPr>
        <p:txBody>
          <a:bodyPr wrap="none" lIns="36576" rIns="36576" tIns="27432" bIns="27432" anchor="t">
            <a:spAutoFit/>
          </a:bodyPr>
          <a:lstStyle/>
          <a:p>
            <a:pPr algn="l"/>
            <a:r>
              <a:rPr sz="1350" b="1">
                <a:solidFill>
                  <a:srgbClr val="F5F8FF"/>
                </a:solidFill>
                <a:latin typeface="Aptos"/>
              </a:rPr>
              <a:t>Read alert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012680" y="2487168"/>
            <a:ext cx="1417320" cy="320040"/>
          </a:xfrm>
          <a:prstGeom prst="rect">
            <a:avLst/>
          </a:prstGeom>
          <a:noFill/>
        </p:spPr>
        <p:txBody>
          <a:bodyPr wrap="none" lIns="36576" rIns="36576" tIns="27432" bIns="27432" anchor="t">
            <a:spAutoFit/>
          </a:bodyPr>
          <a:lstStyle/>
          <a:p>
            <a:pPr algn="l"/>
            <a:r>
              <a:rPr sz="1100" b="0">
                <a:solidFill>
                  <a:srgbClr val="AAB7CF"/>
                </a:solidFill>
                <a:latin typeface="Aptos"/>
              </a:rPr>
              <a:t>SID + message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77240" y="4160520"/>
            <a:ext cx="2194560" cy="320040"/>
          </a:xfrm>
          <a:prstGeom prst="rect">
            <a:avLst/>
          </a:prstGeom>
          <a:noFill/>
        </p:spPr>
        <p:txBody>
          <a:bodyPr wrap="none" lIns="36576" rIns="36576" tIns="27432" bIns="27432" anchor="t">
            <a:spAutoFit/>
          </a:bodyPr>
          <a:lstStyle/>
          <a:p>
            <a:pPr algn="l"/>
            <a:r>
              <a:rPr sz="1500" b="1">
                <a:solidFill>
                  <a:srgbClr val="F5F8FF"/>
                </a:solidFill>
                <a:latin typeface="Aptos"/>
              </a:rPr>
              <a:t>Evidence to capture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77240" y="4709160"/>
            <a:ext cx="2514600" cy="310896"/>
          </a:xfrm>
          <a:prstGeom prst="roundRect">
            <a:avLst/>
          </a:prstGeom>
          <a:solidFill>
            <a:srgbClr val="2BD3FF"/>
          </a:solidFill>
          <a:ln>
            <a:solidFill>
              <a:srgbClr val="2BD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13816" y="4754880"/>
            <a:ext cx="2441448" cy="182880"/>
          </a:xfrm>
          <a:prstGeom prst="rect">
            <a:avLst/>
          </a:prstGeom>
          <a:noFill/>
        </p:spPr>
        <p:txBody>
          <a:bodyPr wrap="none" lIns="36576" rIns="36576" tIns="27432" bIns="27432" anchor="t">
            <a:spAutoFit/>
          </a:bodyPr>
          <a:lstStyle/>
          <a:p>
            <a:pPr algn="ctr"/>
            <a:r>
              <a:rPr sz="1050" b="1">
                <a:solidFill>
                  <a:srgbClr val="0A0F1E"/>
                </a:solidFill>
                <a:latin typeface="Aptos"/>
              </a:rPr>
              <a:t>Snort installation / version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3566160" y="4709160"/>
            <a:ext cx="2514600" cy="310896"/>
          </a:xfrm>
          <a:prstGeom prst="roundRect">
            <a:avLst/>
          </a:prstGeom>
          <a:solidFill>
            <a:srgbClr val="9D5CFF"/>
          </a:solidFill>
          <a:ln>
            <a:solidFill>
              <a:srgbClr val="9D5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602736" y="4754880"/>
            <a:ext cx="2441448" cy="182880"/>
          </a:xfrm>
          <a:prstGeom prst="rect">
            <a:avLst/>
          </a:prstGeom>
          <a:noFill/>
        </p:spPr>
        <p:txBody>
          <a:bodyPr wrap="none" lIns="36576" rIns="36576" tIns="27432" bIns="27432" anchor="t">
            <a:spAutoFit/>
          </a:bodyPr>
          <a:lstStyle/>
          <a:p>
            <a:pPr algn="ctr"/>
            <a:r>
              <a:rPr sz="1050" b="1">
                <a:solidFill>
                  <a:srgbClr val="0A0F1E"/>
                </a:solidFill>
                <a:latin typeface="Aptos"/>
              </a:rPr>
              <a:t>Custom rules file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777240" y="5239512"/>
            <a:ext cx="2514600" cy="310896"/>
          </a:xfrm>
          <a:prstGeom prst="roundRect">
            <a:avLst/>
          </a:prstGeom>
          <a:solidFill>
            <a:srgbClr val="FFA94A"/>
          </a:solidFill>
          <a:ln>
            <a:solidFill>
              <a:srgbClr val="FFA9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13816" y="5285232"/>
            <a:ext cx="2441448" cy="182880"/>
          </a:xfrm>
          <a:prstGeom prst="rect">
            <a:avLst/>
          </a:prstGeom>
          <a:noFill/>
        </p:spPr>
        <p:txBody>
          <a:bodyPr wrap="none" lIns="36576" rIns="36576" tIns="27432" bIns="27432" anchor="t">
            <a:spAutoFit/>
          </a:bodyPr>
          <a:lstStyle/>
          <a:p>
            <a:pPr algn="ctr"/>
            <a:r>
              <a:rPr sz="1050" b="1">
                <a:solidFill>
                  <a:srgbClr val="0A0F1E"/>
                </a:solidFill>
                <a:latin typeface="Aptos"/>
              </a:rPr>
              <a:t>Console alert output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3566160" y="5239512"/>
            <a:ext cx="2514600" cy="310896"/>
          </a:xfrm>
          <a:prstGeom prst="roundRect">
            <a:avLst/>
          </a:prstGeom>
          <a:solidFill>
            <a:srgbClr val="46DD97"/>
          </a:solidFill>
          <a:ln>
            <a:solidFill>
              <a:srgbClr val="46DD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602736" y="5285232"/>
            <a:ext cx="2441448" cy="182880"/>
          </a:xfrm>
          <a:prstGeom prst="rect">
            <a:avLst/>
          </a:prstGeom>
          <a:noFill/>
        </p:spPr>
        <p:txBody>
          <a:bodyPr wrap="none" lIns="36576" rIns="36576" tIns="27432" bIns="27432" anchor="t">
            <a:spAutoFit/>
          </a:bodyPr>
          <a:lstStyle/>
          <a:p>
            <a:pPr algn="ctr"/>
            <a:r>
              <a:rPr sz="1050" b="1">
                <a:solidFill>
                  <a:srgbClr val="0A0F1E"/>
                </a:solidFill>
                <a:latin typeface="Aptos"/>
              </a:rPr>
              <a:t>Ping / HTTP test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FA94A"/>
          </a:solidFill>
          <a:ln>
            <a:solidFill>
              <a:srgbClr val="FFA9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789920" y="228600"/>
            <a:ext cx="1005840" cy="73152"/>
          </a:xfrm>
          <a:prstGeom prst="roundRect">
            <a:avLst/>
          </a:prstGeom>
          <a:solidFill>
            <a:srgbClr val="FFA94A"/>
          </a:solidFill>
          <a:ln>
            <a:solidFill>
              <a:srgbClr val="FFA9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1109960" y="384048"/>
            <a:ext cx="685800" cy="45720"/>
          </a:xfrm>
          <a:prstGeom prst="roundRect">
            <a:avLst/>
          </a:prstGeom>
          <a:solidFill>
            <a:srgbClr val="9D5CFF"/>
          </a:solidFill>
          <a:ln>
            <a:solidFill>
              <a:srgbClr val="9D5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347472"/>
            <a:ext cx="9144000" cy="502920"/>
          </a:xfrm>
          <a:prstGeom prst="rect">
            <a:avLst/>
          </a:prstGeom>
          <a:noFill/>
        </p:spPr>
        <p:txBody>
          <a:bodyPr wrap="none" lIns="36576" rIns="36576" tIns="27432" bIns="27432" anchor="t">
            <a:spAutoFit/>
          </a:bodyPr>
          <a:lstStyle/>
          <a:p>
            <a:pPr algn="l"/>
            <a:r>
              <a:rPr sz="2700" b="1">
                <a:solidFill>
                  <a:srgbClr val="F5F8FF"/>
                </a:solidFill>
                <a:latin typeface="Aptos"/>
              </a:rPr>
              <a:t>HTTP Detection Test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896112"/>
            <a:ext cx="10515600" cy="347472"/>
          </a:xfrm>
          <a:prstGeom prst="rect">
            <a:avLst/>
          </a:prstGeom>
          <a:noFill/>
        </p:spPr>
        <p:txBody>
          <a:bodyPr wrap="none" lIns="36576" rIns="36576" tIns="27432" bIns="27432" anchor="t">
            <a:spAutoFit/>
          </a:bodyPr>
          <a:lstStyle/>
          <a:p>
            <a:pPr algn="l"/>
            <a:r>
              <a:rPr sz="1150" b="0">
                <a:solidFill>
                  <a:srgbClr val="AAB7CF"/>
                </a:solidFill>
                <a:latin typeface="Aptos"/>
              </a:rPr>
              <a:t>A reproducible way to create plain HTTP traffic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09960" y="6355080"/>
            <a:ext cx="502920" cy="228600"/>
          </a:xfrm>
          <a:prstGeom prst="rect">
            <a:avLst/>
          </a:prstGeom>
          <a:noFill/>
        </p:spPr>
        <p:txBody>
          <a:bodyPr wrap="none" lIns="36576" rIns="36576" tIns="27432" bIns="27432" anchor="t">
            <a:spAutoFit/>
          </a:bodyPr>
          <a:lstStyle/>
          <a:p>
            <a:pPr algn="r"/>
            <a:r>
              <a:rPr sz="1000" b="1">
                <a:solidFill>
                  <a:srgbClr val="AAB7CF"/>
                </a:solidFill>
                <a:latin typeface="Aptos"/>
              </a:rPr>
              <a:t>10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1325880"/>
            <a:ext cx="5303520" cy="438912"/>
          </a:xfrm>
          <a:prstGeom prst="roundRect">
            <a:avLst/>
          </a:prstGeom>
          <a:solidFill>
            <a:srgbClr val="1B2642"/>
          </a:solidFill>
          <a:ln>
            <a:solidFill>
              <a:srgbClr val="1B26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94360" y="1325880"/>
            <a:ext cx="64008" cy="438912"/>
          </a:xfrm>
          <a:prstGeom prst="roundRect">
            <a:avLst/>
          </a:prstGeom>
          <a:solidFill>
            <a:srgbClr val="FFA94A"/>
          </a:solidFill>
          <a:ln>
            <a:solidFill>
              <a:srgbClr val="FFA9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58952" y="1389888"/>
            <a:ext cx="5074920" cy="256032"/>
          </a:xfrm>
          <a:prstGeom prst="rect">
            <a:avLst/>
          </a:prstGeom>
          <a:noFill/>
        </p:spPr>
        <p:txBody>
          <a:bodyPr wrap="none" lIns="36576" rIns="36576" tIns="27432" bIns="27432" anchor="t">
            <a:spAutoFit/>
          </a:bodyPr>
          <a:lstStyle/>
          <a:p>
            <a:pPr algn="l"/>
            <a:r>
              <a:rPr sz="1400" b="1">
                <a:solidFill>
                  <a:srgbClr val="F5F8FF"/>
                </a:solidFill>
                <a:latin typeface="Aptos"/>
              </a:rPr>
              <a:t>Start a local HTTP server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1920240"/>
            <a:ext cx="4846320" cy="685800"/>
          </a:xfrm>
          <a:prstGeom prst="roundRect">
            <a:avLst/>
          </a:prstGeom>
          <a:solidFill>
            <a:srgbClr val="070B18"/>
          </a:solidFill>
          <a:ln>
            <a:solidFill>
              <a:srgbClr val="2E3D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822960" y="1920240"/>
            <a:ext cx="54864" cy="685800"/>
          </a:xfrm>
          <a:prstGeom prst="roundRect">
            <a:avLst/>
          </a:prstGeom>
          <a:solidFill>
            <a:srgbClr val="FFA94A"/>
          </a:solidFill>
          <a:ln>
            <a:solidFill>
              <a:srgbClr val="FFA9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87552" y="2029968"/>
            <a:ext cx="4572000" cy="502920"/>
          </a:xfrm>
          <a:prstGeom prst="rect">
            <a:avLst/>
          </a:prstGeom>
          <a:noFill/>
        </p:spPr>
        <p:txBody>
          <a:bodyPr wrap="none" lIns="36576" rIns="36576" tIns="27432" bIns="27432" anchor="t">
            <a:spAutoFit/>
          </a:bodyPr>
          <a:lstStyle/>
          <a:p>
            <a:pPr algn="l"/>
            <a:r>
              <a:rPr sz="1300" b="0">
                <a:solidFill>
                  <a:srgbClr val="D7E1F2"/>
                </a:solidFill>
                <a:latin typeface="Consolas"/>
              </a:rPr>
              <a:t>python3 -m http.server 8080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94360" y="2971800"/>
            <a:ext cx="5303520" cy="438912"/>
          </a:xfrm>
          <a:prstGeom prst="roundRect">
            <a:avLst/>
          </a:prstGeom>
          <a:solidFill>
            <a:srgbClr val="1B2642"/>
          </a:solidFill>
          <a:ln>
            <a:solidFill>
              <a:srgbClr val="1B26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594360" y="2971800"/>
            <a:ext cx="64008" cy="438912"/>
          </a:xfrm>
          <a:prstGeom prst="roundRect">
            <a:avLst/>
          </a:prstGeom>
          <a:solidFill>
            <a:srgbClr val="FF5299"/>
          </a:solidFill>
          <a:ln>
            <a:solidFill>
              <a:srgbClr val="FF52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58952" y="3035808"/>
            <a:ext cx="5074920" cy="256032"/>
          </a:xfrm>
          <a:prstGeom prst="rect">
            <a:avLst/>
          </a:prstGeom>
          <a:noFill/>
        </p:spPr>
        <p:txBody>
          <a:bodyPr wrap="none" lIns="36576" rIns="36576" tIns="27432" bIns="27432" anchor="t">
            <a:spAutoFit/>
          </a:bodyPr>
          <a:lstStyle/>
          <a:p>
            <a:pPr algn="l"/>
            <a:r>
              <a:rPr sz="1400" b="1">
                <a:solidFill>
                  <a:srgbClr val="F5F8FF"/>
                </a:solidFill>
                <a:latin typeface="Aptos"/>
              </a:rPr>
              <a:t>Use a matching Snort rule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2960" y="3547872"/>
            <a:ext cx="4846320" cy="960120"/>
          </a:xfrm>
          <a:prstGeom prst="roundRect">
            <a:avLst/>
          </a:prstGeom>
          <a:solidFill>
            <a:srgbClr val="070B18"/>
          </a:solidFill>
          <a:ln>
            <a:solidFill>
              <a:srgbClr val="2E3D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22960" y="3547872"/>
            <a:ext cx="54864" cy="960120"/>
          </a:xfrm>
          <a:prstGeom prst="roundRect">
            <a:avLst/>
          </a:prstGeom>
          <a:solidFill>
            <a:srgbClr val="FF5299"/>
          </a:solidFill>
          <a:ln>
            <a:solidFill>
              <a:srgbClr val="FF52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87552" y="3657600"/>
            <a:ext cx="4572000" cy="777240"/>
          </a:xfrm>
          <a:prstGeom prst="rect">
            <a:avLst/>
          </a:prstGeom>
          <a:noFill/>
        </p:spPr>
        <p:txBody>
          <a:bodyPr wrap="none" lIns="36576" rIns="36576" tIns="27432" bIns="27432" anchor="t">
            <a:spAutoFit/>
          </a:bodyPr>
          <a:lstStyle/>
          <a:p>
            <a:pPr algn="l"/>
            <a:r>
              <a:rPr sz="1120" b="0">
                <a:solidFill>
                  <a:srgbClr val="D7E1F2"/>
                </a:solidFill>
                <a:latin typeface="Consolas"/>
              </a:rPr>
              <a:t>alert tcp any any -&gt; any 8080 (msg:"WEEK9 HTTP Traffic Detected"; sid:1000002; rev:2;)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1325880"/>
            <a:ext cx="5303520" cy="438912"/>
          </a:xfrm>
          <a:prstGeom prst="roundRect">
            <a:avLst/>
          </a:prstGeom>
          <a:solidFill>
            <a:srgbClr val="1B2642"/>
          </a:solidFill>
          <a:ln>
            <a:solidFill>
              <a:srgbClr val="1B26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6172200" y="1325880"/>
            <a:ext cx="64008" cy="438912"/>
          </a:xfrm>
          <a:prstGeom prst="roundRect">
            <a:avLst/>
          </a:prstGeom>
          <a:solidFill>
            <a:srgbClr val="2BD3FF"/>
          </a:solidFill>
          <a:ln>
            <a:solidFill>
              <a:srgbClr val="2BD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36792" y="1389888"/>
            <a:ext cx="5074920" cy="256032"/>
          </a:xfrm>
          <a:prstGeom prst="rect">
            <a:avLst/>
          </a:prstGeom>
          <a:noFill/>
        </p:spPr>
        <p:txBody>
          <a:bodyPr wrap="none" lIns="36576" rIns="36576" tIns="27432" bIns="27432" anchor="t">
            <a:spAutoFit/>
          </a:bodyPr>
          <a:lstStyle/>
          <a:p>
            <a:pPr algn="l"/>
            <a:r>
              <a:rPr sz="1400" b="1">
                <a:solidFill>
                  <a:srgbClr val="F5F8FF"/>
                </a:solidFill>
                <a:latin typeface="Aptos"/>
              </a:rPr>
              <a:t>Generate traffic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400800" y="1920240"/>
            <a:ext cx="4846320" cy="685800"/>
          </a:xfrm>
          <a:prstGeom prst="roundRect">
            <a:avLst/>
          </a:prstGeom>
          <a:solidFill>
            <a:srgbClr val="070B18"/>
          </a:solidFill>
          <a:ln>
            <a:solidFill>
              <a:srgbClr val="2E3D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6400800" y="1920240"/>
            <a:ext cx="54864" cy="685800"/>
          </a:xfrm>
          <a:prstGeom prst="roundRect">
            <a:avLst/>
          </a:prstGeom>
          <a:solidFill>
            <a:srgbClr val="2BD3FF"/>
          </a:solidFill>
          <a:ln>
            <a:solidFill>
              <a:srgbClr val="2BD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565392" y="2029968"/>
            <a:ext cx="4572000" cy="502920"/>
          </a:xfrm>
          <a:prstGeom prst="rect">
            <a:avLst/>
          </a:prstGeom>
          <a:noFill/>
        </p:spPr>
        <p:txBody>
          <a:bodyPr wrap="none" lIns="36576" rIns="36576" tIns="27432" bIns="27432" anchor="t">
            <a:spAutoFit/>
          </a:bodyPr>
          <a:lstStyle/>
          <a:p>
            <a:pPr algn="l"/>
            <a:r>
              <a:rPr sz="1250" b="0">
                <a:solidFill>
                  <a:srgbClr val="D7E1F2"/>
                </a:solidFill>
                <a:latin typeface="Consolas"/>
              </a:rPr>
              <a:t>curl http://&lt;TEST-SERVER-IP&gt;:8080/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0" y="3063240"/>
            <a:ext cx="1188720" cy="274320"/>
          </a:xfrm>
          <a:prstGeom prst="rect">
            <a:avLst/>
          </a:prstGeom>
          <a:noFill/>
        </p:spPr>
        <p:txBody>
          <a:bodyPr wrap="none" lIns="36576" rIns="36576" tIns="27432" bIns="27432" anchor="t">
            <a:spAutoFit/>
          </a:bodyPr>
          <a:lstStyle/>
          <a:p>
            <a:pPr algn="l"/>
            <a:r>
              <a:rPr sz="1300" b="1">
                <a:solidFill>
                  <a:srgbClr val="FFA94A"/>
                </a:solidFill>
                <a:latin typeface="Aptos"/>
              </a:rPr>
              <a:t>Important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0" y="3493008"/>
            <a:ext cx="4663440" cy="960120"/>
          </a:xfrm>
          <a:prstGeom prst="rect">
            <a:avLst/>
          </a:prstGeom>
          <a:noFill/>
        </p:spPr>
        <p:txBody>
          <a:bodyPr wrap="none" lIns="36576" rIns="36576" tIns="27432" bIns="27432" anchor="t">
            <a:spAutoFit/>
          </a:bodyPr>
          <a:lstStyle/>
          <a:p>
            <a:pPr algn="l"/>
            <a:r>
              <a:rPr sz="1500" b="1">
                <a:solidFill>
                  <a:srgbClr val="F5F8FF"/>
                </a:solidFill>
                <a:latin typeface="Aptos"/>
              </a:rPr>
              <a:t>Port 80 and HTTPS 443 are not the same. A port-80 rule will not automatically match encrypted HTTPS traffic.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629400" y="4892040"/>
            <a:ext cx="4389120" cy="310896"/>
          </a:xfrm>
          <a:prstGeom prst="roundRect">
            <a:avLst/>
          </a:prstGeom>
          <a:solidFill>
            <a:srgbClr val="46DD97"/>
          </a:solidFill>
          <a:ln>
            <a:solidFill>
              <a:srgbClr val="46DD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665976" y="4937759"/>
            <a:ext cx="4315968" cy="182880"/>
          </a:xfrm>
          <a:prstGeom prst="rect">
            <a:avLst/>
          </a:prstGeom>
          <a:noFill/>
        </p:spPr>
        <p:txBody>
          <a:bodyPr wrap="none" lIns="36576" rIns="36576" tIns="27432" bIns="27432" anchor="t">
            <a:spAutoFit/>
          </a:bodyPr>
          <a:lstStyle/>
          <a:p>
            <a:pPr algn="ctr"/>
            <a:r>
              <a:rPr sz="1050" b="1">
                <a:solidFill>
                  <a:srgbClr val="0A0F1E"/>
                </a:solidFill>
                <a:latin typeface="Aptos"/>
              </a:rPr>
              <a:t>Capture the actual Snort alert as evidence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F5C5C"/>
          </a:solidFill>
          <a:ln>
            <a:solidFill>
              <a:srgbClr val="FF5C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789920" y="228600"/>
            <a:ext cx="1005840" cy="73152"/>
          </a:xfrm>
          <a:prstGeom prst="roundRect">
            <a:avLst/>
          </a:prstGeom>
          <a:solidFill>
            <a:srgbClr val="FF5C5C"/>
          </a:solidFill>
          <a:ln>
            <a:solidFill>
              <a:srgbClr val="FF5C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1109960" y="384048"/>
            <a:ext cx="685800" cy="45720"/>
          </a:xfrm>
          <a:prstGeom prst="roundRect">
            <a:avLst/>
          </a:prstGeom>
          <a:solidFill>
            <a:srgbClr val="9D5CFF"/>
          </a:solidFill>
          <a:ln>
            <a:solidFill>
              <a:srgbClr val="9D5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347472"/>
            <a:ext cx="9144000" cy="502920"/>
          </a:xfrm>
          <a:prstGeom prst="rect">
            <a:avLst/>
          </a:prstGeom>
          <a:noFill/>
        </p:spPr>
        <p:txBody>
          <a:bodyPr wrap="none" lIns="36576" rIns="36576" tIns="27432" bIns="27432" anchor="t">
            <a:spAutoFit/>
          </a:bodyPr>
          <a:lstStyle/>
          <a:p>
            <a:pPr algn="l"/>
            <a:r>
              <a:rPr sz="2700" b="1">
                <a:solidFill>
                  <a:srgbClr val="F5F8FF"/>
                </a:solidFill>
                <a:latin typeface="Aptos"/>
              </a:rPr>
              <a:t>Troubleshooting + Evidence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896112"/>
            <a:ext cx="10515600" cy="347472"/>
          </a:xfrm>
          <a:prstGeom prst="rect">
            <a:avLst/>
          </a:prstGeom>
          <a:noFill/>
        </p:spPr>
        <p:txBody>
          <a:bodyPr wrap="none" lIns="36576" rIns="36576" tIns="27432" bIns="27432" anchor="t">
            <a:spAutoFit/>
          </a:bodyPr>
          <a:lstStyle/>
          <a:p>
            <a:pPr algn="l"/>
            <a:r>
              <a:rPr sz="1150" b="0">
                <a:solidFill>
                  <a:srgbClr val="AAB7CF"/>
                </a:solidFill>
                <a:latin typeface="Aptos"/>
              </a:rPr>
              <a:t>If no alert appears, validate one layer at a time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09960" y="6355080"/>
            <a:ext cx="502920" cy="228600"/>
          </a:xfrm>
          <a:prstGeom prst="rect">
            <a:avLst/>
          </a:prstGeom>
          <a:noFill/>
        </p:spPr>
        <p:txBody>
          <a:bodyPr wrap="none" lIns="36576" rIns="36576" tIns="27432" bIns="27432" anchor="t">
            <a:spAutoFit/>
          </a:bodyPr>
          <a:lstStyle/>
          <a:p>
            <a:pPr algn="r"/>
            <a:r>
              <a:rPr sz="1000" b="1">
                <a:solidFill>
                  <a:srgbClr val="AAB7CF"/>
                </a:solidFill>
                <a:latin typeface="Aptos"/>
              </a:rPr>
              <a:t>11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417320"/>
            <a:ext cx="2743200" cy="777240"/>
          </a:xfrm>
          <a:prstGeom prst="roundRect">
            <a:avLst/>
          </a:prstGeom>
          <a:solidFill>
            <a:srgbClr val="161F37"/>
          </a:solidFill>
          <a:ln>
            <a:solidFill>
              <a:srgbClr val="2BD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1581912"/>
            <a:ext cx="960120" cy="274320"/>
          </a:xfrm>
          <a:prstGeom prst="rect">
            <a:avLst/>
          </a:prstGeom>
          <a:noFill/>
        </p:spPr>
        <p:txBody>
          <a:bodyPr wrap="none" lIns="36576" rIns="36576" tIns="27432" bIns="27432" anchor="t">
            <a:spAutoFit/>
          </a:bodyPr>
          <a:lstStyle/>
          <a:p>
            <a:pPr algn="l"/>
            <a:r>
              <a:rPr sz="1300" b="1">
                <a:solidFill>
                  <a:srgbClr val="2BD3FF"/>
                </a:solidFill>
                <a:latin typeface="Aptos"/>
              </a:rPr>
              <a:t>No traffic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28800" y="1581912"/>
            <a:ext cx="1325880" cy="274320"/>
          </a:xfrm>
          <a:prstGeom prst="rect">
            <a:avLst/>
          </a:prstGeom>
          <a:noFill/>
        </p:spPr>
        <p:txBody>
          <a:bodyPr wrap="none" lIns="36576" rIns="36576" tIns="27432" bIns="27432" anchor="t">
            <a:spAutoFit/>
          </a:bodyPr>
          <a:lstStyle/>
          <a:p>
            <a:pPr algn="l"/>
            <a:r>
              <a:rPr sz="1150" b="1">
                <a:solidFill>
                  <a:srgbClr val="F5F8FF"/>
                </a:solidFill>
                <a:latin typeface="Aptos"/>
              </a:rPr>
              <a:t>Wrong interface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611880" y="1417320"/>
            <a:ext cx="4663440" cy="777240"/>
          </a:xfrm>
          <a:prstGeom prst="roundRect">
            <a:avLst/>
          </a:prstGeom>
          <a:solidFill>
            <a:srgbClr val="1B2642"/>
          </a:solidFill>
          <a:ln>
            <a:solidFill>
              <a:srgbClr val="1B26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794760" y="1618488"/>
            <a:ext cx="4297680" cy="256032"/>
          </a:xfrm>
          <a:prstGeom prst="rect">
            <a:avLst/>
          </a:prstGeom>
          <a:noFill/>
        </p:spPr>
        <p:txBody>
          <a:bodyPr wrap="none" lIns="36576" rIns="36576" tIns="27432" bIns="27432" anchor="t">
            <a:spAutoFit/>
          </a:bodyPr>
          <a:lstStyle/>
          <a:p>
            <a:pPr algn="l"/>
            <a:r>
              <a:rPr sz="1250" b="0">
                <a:solidFill>
                  <a:srgbClr val="F5F8FF"/>
                </a:solidFill>
                <a:latin typeface="Aptos"/>
              </a:rPr>
              <a:t>Check ip addr / monitored NIC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2468880"/>
            <a:ext cx="2743200" cy="777240"/>
          </a:xfrm>
          <a:prstGeom prst="roundRect">
            <a:avLst/>
          </a:prstGeom>
          <a:solidFill>
            <a:srgbClr val="161F37"/>
          </a:solidFill>
          <a:ln>
            <a:solidFill>
              <a:srgbClr val="9D5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" y="2633472"/>
            <a:ext cx="960120" cy="274320"/>
          </a:xfrm>
          <a:prstGeom prst="rect">
            <a:avLst/>
          </a:prstGeom>
          <a:noFill/>
        </p:spPr>
        <p:txBody>
          <a:bodyPr wrap="none" lIns="36576" rIns="36576" tIns="27432" bIns="27432" anchor="t">
            <a:spAutoFit/>
          </a:bodyPr>
          <a:lstStyle/>
          <a:p>
            <a:pPr algn="l"/>
            <a:r>
              <a:rPr sz="1300" b="1">
                <a:solidFill>
                  <a:srgbClr val="9D5CFF"/>
                </a:solidFill>
                <a:latin typeface="Aptos"/>
              </a:rPr>
              <a:t>No ICMP alert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828800" y="2633472"/>
            <a:ext cx="1325880" cy="274320"/>
          </a:xfrm>
          <a:prstGeom prst="rect">
            <a:avLst/>
          </a:prstGeom>
          <a:noFill/>
        </p:spPr>
        <p:txBody>
          <a:bodyPr wrap="none" lIns="36576" rIns="36576" tIns="27432" bIns="27432" anchor="t">
            <a:spAutoFit/>
          </a:bodyPr>
          <a:lstStyle/>
          <a:p>
            <a:pPr algn="l"/>
            <a:r>
              <a:rPr sz="1150" b="1">
                <a:solidFill>
                  <a:srgbClr val="F5F8FF"/>
                </a:solidFill>
                <a:latin typeface="Aptos"/>
              </a:rPr>
              <a:t>Rule not loaded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611880" y="2468880"/>
            <a:ext cx="4663440" cy="777240"/>
          </a:xfrm>
          <a:prstGeom prst="roundRect">
            <a:avLst/>
          </a:prstGeom>
          <a:solidFill>
            <a:srgbClr val="1B2642"/>
          </a:solidFill>
          <a:ln>
            <a:solidFill>
              <a:srgbClr val="1B26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794760" y="2670048"/>
            <a:ext cx="4297680" cy="256032"/>
          </a:xfrm>
          <a:prstGeom prst="rect">
            <a:avLst/>
          </a:prstGeom>
          <a:noFill/>
        </p:spPr>
        <p:txBody>
          <a:bodyPr wrap="none" lIns="36576" rIns="36576" tIns="27432" bIns="27432" anchor="t">
            <a:spAutoFit/>
          </a:bodyPr>
          <a:lstStyle/>
          <a:p>
            <a:pPr algn="l"/>
            <a:r>
              <a:rPr sz="1250" b="0">
                <a:solidFill>
                  <a:srgbClr val="F5F8FF"/>
                </a:solidFill>
                <a:latin typeface="Aptos"/>
              </a:rPr>
              <a:t>Check local.rules + snort.conf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3520439"/>
            <a:ext cx="2743200" cy="777240"/>
          </a:xfrm>
          <a:prstGeom prst="roundRect">
            <a:avLst/>
          </a:prstGeom>
          <a:solidFill>
            <a:srgbClr val="161F37"/>
          </a:solidFill>
          <a:ln>
            <a:solidFill>
              <a:srgbClr val="FFA9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" y="3685031"/>
            <a:ext cx="960120" cy="274320"/>
          </a:xfrm>
          <a:prstGeom prst="rect">
            <a:avLst/>
          </a:prstGeom>
          <a:noFill/>
        </p:spPr>
        <p:txBody>
          <a:bodyPr wrap="none" lIns="36576" rIns="36576" tIns="27432" bIns="27432" anchor="t">
            <a:spAutoFit/>
          </a:bodyPr>
          <a:lstStyle/>
          <a:p>
            <a:pPr algn="l"/>
            <a:r>
              <a:rPr sz="1300" b="1">
                <a:solidFill>
                  <a:srgbClr val="FFA94A"/>
                </a:solidFill>
                <a:latin typeface="Aptos"/>
              </a:rPr>
              <a:t>No HTTP alert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828800" y="3685031"/>
            <a:ext cx="1325880" cy="274320"/>
          </a:xfrm>
          <a:prstGeom prst="rect">
            <a:avLst/>
          </a:prstGeom>
          <a:noFill/>
        </p:spPr>
        <p:txBody>
          <a:bodyPr wrap="none" lIns="36576" rIns="36576" tIns="27432" bIns="27432" anchor="t">
            <a:spAutoFit/>
          </a:bodyPr>
          <a:lstStyle/>
          <a:p>
            <a:pPr algn="l"/>
            <a:r>
              <a:rPr sz="1150" b="1">
                <a:solidFill>
                  <a:srgbClr val="F5F8FF"/>
                </a:solidFill>
                <a:latin typeface="Aptos"/>
              </a:rPr>
              <a:t>Port mismatch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611880" y="3520439"/>
            <a:ext cx="4663440" cy="777240"/>
          </a:xfrm>
          <a:prstGeom prst="roundRect">
            <a:avLst/>
          </a:prstGeom>
          <a:solidFill>
            <a:srgbClr val="1B2642"/>
          </a:solidFill>
          <a:ln>
            <a:solidFill>
              <a:srgbClr val="1B26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794760" y="3721607"/>
            <a:ext cx="4297680" cy="256032"/>
          </a:xfrm>
          <a:prstGeom prst="rect">
            <a:avLst/>
          </a:prstGeom>
          <a:noFill/>
        </p:spPr>
        <p:txBody>
          <a:bodyPr wrap="none" lIns="36576" rIns="36576" tIns="27432" bIns="27432" anchor="t">
            <a:spAutoFit/>
          </a:bodyPr>
          <a:lstStyle/>
          <a:p>
            <a:pPr algn="l"/>
            <a:r>
              <a:rPr sz="1250" b="0">
                <a:solidFill>
                  <a:srgbClr val="F5F8FF"/>
                </a:solidFill>
                <a:latin typeface="Aptos"/>
              </a:rPr>
              <a:t>Use 80 or match your test port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40080" y="4572000"/>
            <a:ext cx="2743200" cy="777240"/>
          </a:xfrm>
          <a:prstGeom prst="roundRect">
            <a:avLst/>
          </a:prstGeom>
          <a:solidFill>
            <a:srgbClr val="161F37"/>
          </a:solidFill>
          <a:ln>
            <a:solidFill>
              <a:srgbClr val="FF52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2960" y="4736592"/>
            <a:ext cx="960120" cy="274320"/>
          </a:xfrm>
          <a:prstGeom prst="rect">
            <a:avLst/>
          </a:prstGeom>
          <a:noFill/>
        </p:spPr>
        <p:txBody>
          <a:bodyPr wrap="none" lIns="36576" rIns="36576" tIns="27432" bIns="27432" anchor="t">
            <a:spAutoFit/>
          </a:bodyPr>
          <a:lstStyle/>
          <a:p>
            <a:pPr algn="l"/>
            <a:r>
              <a:rPr sz="1300" b="1">
                <a:solidFill>
                  <a:srgbClr val="FF5299"/>
                </a:solidFill>
                <a:latin typeface="Aptos"/>
              </a:rPr>
              <a:t>Config fails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828800" y="4736592"/>
            <a:ext cx="1325880" cy="274320"/>
          </a:xfrm>
          <a:prstGeom prst="rect">
            <a:avLst/>
          </a:prstGeom>
          <a:noFill/>
        </p:spPr>
        <p:txBody>
          <a:bodyPr wrap="none" lIns="36576" rIns="36576" tIns="27432" bIns="27432" anchor="t">
            <a:spAutoFit/>
          </a:bodyPr>
          <a:lstStyle/>
          <a:p>
            <a:pPr algn="l"/>
            <a:r>
              <a:rPr sz="1150" b="1">
                <a:solidFill>
                  <a:srgbClr val="F5F8FF"/>
                </a:solidFill>
                <a:latin typeface="Aptos"/>
              </a:rPr>
              <a:t>Syntax/path issue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611880" y="4572000"/>
            <a:ext cx="4663440" cy="777240"/>
          </a:xfrm>
          <a:prstGeom prst="roundRect">
            <a:avLst/>
          </a:prstGeom>
          <a:solidFill>
            <a:srgbClr val="1B2642"/>
          </a:solidFill>
          <a:ln>
            <a:solidFill>
              <a:srgbClr val="1B26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794760" y="4773168"/>
            <a:ext cx="4297680" cy="256032"/>
          </a:xfrm>
          <a:prstGeom prst="rect">
            <a:avLst/>
          </a:prstGeom>
          <a:noFill/>
        </p:spPr>
        <p:txBody>
          <a:bodyPr wrap="none" lIns="36576" rIns="36576" tIns="27432" bIns="27432" anchor="t">
            <a:spAutoFit/>
          </a:bodyPr>
          <a:lstStyle/>
          <a:p>
            <a:pPr algn="l"/>
            <a:r>
              <a:rPr sz="1250" b="0">
                <a:solidFill>
                  <a:srgbClr val="F5F8FF"/>
                </a:solidFill>
                <a:latin typeface="Aptos"/>
              </a:rPr>
              <a:t>Run snort -T first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641080" y="1417320"/>
            <a:ext cx="2834640" cy="438912"/>
          </a:xfrm>
          <a:prstGeom prst="roundRect">
            <a:avLst/>
          </a:prstGeom>
          <a:solidFill>
            <a:srgbClr val="1B2642"/>
          </a:solidFill>
          <a:ln>
            <a:solidFill>
              <a:srgbClr val="1B26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8641080" y="1417320"/>
            <a:ext cx="64008" cy="438912"/>
          </a:xfrm>
          <a:prstGeom prst="roundRect">
            <a:avLst/>
          </a:prstGeom>
          <a:solidFill>
            <a:srgbClr val="46DD97"/>
          </a:solidFill>
          <a:ln>
            <a:solidFill>
              <a:srgbClr val="46DD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805672" y="1481328"/>
            <a:ext cx="2606040" cy="256032"/>
          </a:xfrm>
          <a:prstGeom prst="rect">
            <a:avLst/>
          </a:prstGeom>
          <a:noFill/>
        </p:spPr>
        <p:txBody>
          <a:bodyPr wrap="none" lIns="36576" rIns="36576" tIns="27432" bIns="27432" anchor="t">
            <a:spAutoFit/>
          </a:bodyPr>
          <a:lstStyle/>
          <a:p>
            <a:pPr algn="l"/>
            <a:r>
              <a:rPr sz="1400" b="1">
                <a:solidFill>
                  <a:srgbClr val="F5F8FF"/>
                </a:solidFill>
                <a:latin typeface="Aptos"/>
              </a:rPr>
              <a:t>Screenshot checklist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869680" y="2011680"/>
            <a:ext cx="2331720" cy="2743200"/>
          </a:xfrm>
          <a:prstGeom prst="rect">
            <a:avLst/>
          </a:prstGeom>
          <a:noFill/>
        </p:spPr>
        <p:txBody>
          <a:bodyPr wrap="none" lIns="27432" rIns="27432">
            <a:spAutoFit/>
          </a:bodyPr>
          <a:lstStyle/>
          <a:p>
            <a:pPr>
              <a:spcAft>
                <a:spcPts val="700"/>
              </a:spcAft>
              <a:defRPr sz="1250">
                <a:solidFill>
                  <a:srgbClr val="AAB7CF"/>
                </a:solidFill>
                <a:latin typeface="Aptos"/>
              </a:defRPr>
            </a:pPr>
            <a:r>
              <a:t>• Snort version</a:t>
            </a:r>
          </a:p>
          <a:p>
            <a:pPr>
              <a:spcAft>
                <a:spcPts val="700"/>
              </a:spcAft>
              <a:defRPr sz="1250">
                <a:solidFill>
                  <a:srgbClr val="AAB7CF"/>
                </a:solidFill>
                <a:latin typeface="Aptos"/>
              </a:defRPr>
            </a:pPr>
            <a:r>
              <a:t>• Rule file</a:t>
            </a:r>
          </a:p>
          <a:p>
            <a:pPr>
              <a:spcAft>
                <a:spcPts val="700"/>
              </a:spcAft>
              <a:defRPr sz="1250">
                <a:solidFill>
                  <a:srgbClr val="AAB7CF"/>
                </a:solidFill>
                <a:latin typeface="Aptos"/>
              </a:defRPr>
            </a:pPr>
            <a:r>
              <a:t>• Snort test mode</a:t>
            </a:r>
          </a:p>
          <a:p>
            <a:pPr>
              <a:spcAft>
                <a:spcPts val="700"/>
              </a:spcAft>
              <a:defRPr sz="1250">
                <a:solidFill>
                  <a:srgbClr val="AAB7CF"/>
                </a:solidFill>
                <a:latin typeface="Aptos"/>
              </a:defRPr>
            </a:pPr>
            <a:r>
              <a:t>• ICMP alert</a:t>
            </a:r>
          </a:p>
          <a:p>
            <a:pPr>
              <a:spcAft>
                <a:spcPts val="700"/>
              </a:spcAft>
              <a:defRPr sz="1250">
                <a:solidFill>
                  <a:srgbClr val="AAB7CF"/>
                </a:solidFill>
                <a:latin typeface="Aptos"/>
              </a:defRPr>
            </a:pPr>
            <a:r>
              <a:t>• HTTP alert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823960" y="5074920"/>
            <a:ext cx="2468880" cy="310896"/>
          </a:xfrm>
          <a:prstGeom prst="roundRect">
            <a:avLst/>
          </a:prstGeom>
          <a:solidFill>
            <a:srgbClr val="FF5C5C"/>
          </a:solidFill>
          <a:ln>
            <a:solidFill>
              <a:srgbClr val="FF5C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860536" y="5120640"/>
            <a:ext cx="2395728" cy="182880"/>
          </a:xfrm>
          <a:prstGeom prst="rect">
            <a:avLst/>
          </a:prstGeom>
          <a:noFill/>
        </p:spPr>
        <p:txBody>
          <a:bodyPr wrap="none" lIns="36576" rIns="36576" tIns="27432" bIns="27432" anchor="t">
            <a:spAutoFit/>
          </a:bodyPr>
          <a:lstStyle/>
          <a:p>
            <a:pPr algn="ctr"/>
            <a:r>
              <a:rPr sz="1050" b="1">
                <a:solidFill>
                  <a:srgbClr val="0A0F1E"/>
                </a:solidFill>
                <a:latin typeface="Aptos"/>
              </a:rPr>
              <a:t>Use REAL lab screenshots — not generated proof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46DD97"/>
          </a:solidFill>
          <a:ln>
            <a:solidFill>
              <a:srgbClr val="46DD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789920" y="228600"/>
            <a:ext cx="1005840" cy="73152"/>
          </a:xfrm>
          <a:prstGeom prst="roundRect">
            <a:avLst/>
          </a:prstGeom>
          <a:solidFill>
            <a:srgbClr val="46DD97"/>
          </a:solidFill>
          <a:ln>
            <a:solidFill>
              <a:srgbClr val="46DD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1109960" y="384048"/>
            <a:ext cx="685800" cy="45720"/>
          </a:xfrm>
          <a:prstGeom prst="roundRect">
            <a:avLst/>
          </a:prstGeom>
          <a:solidFill>
            <a:srgbClr val="9D5CFF"/>
          </a:solidFill>
          <a:ln>
            <a:solidFill>
              <a:srgbClr val="9D5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347472"/>
            <a:ext cx="9144000" cy="502920"/>
          </a:xfrm>
          <a:prstGeom prst="rect">
            <a:avLst/>
          </a:prstGeom>
          <a:noFill/>
        </p:spPr>
        <p:txBody>
          <a:bodyPr wrap="none" lIns="36576" rIns="36576" tIns="27432" bIns="27432" anchor="t">
            <a:spAutoFit/>
          </a:bodyPr>
          <a:lstStyle/>
          <a:p>
            <a:pPr algn="l"/>
            <a:r>
              <a:rPr sz="2700" b="1">
                <a:solidFill>
                  <a:srgbClr val="F5F8FF"/>
                </a:solidFill>
                <a:latin typeface="Aptos"/>
              </a:rPr>
              <a:t>Key Takeaways + Submission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896112"/>
            <a:ext cx="10515600" cy="347472"/>
          </a:xfrm>
          <a:prstGeom prst="rect">
            <a:avLst/>
          </a:prstGeom>
          <a:noFill/>
        </p:spPr>
        <p:txBody>
          <a:bodyPr wrap="none" lIns="36576" rIns="36576" tIns="27432" bIns="27432" anchor="t">
            <a:spAutoFit/>
          </a:bodyPr>
          <a:lstStyle/>
          <a:p>
            <a:pPr algn="l"/>
            <a:r>
              <a:rPr sz="1150" b="0">
                <a:solidFill>
                  <a:srgbClr val="AAB7CF"/>
                </a:solidFill>
                <a:latin typeface="Aptos"/>
              </a:rPr>
              <a:t>Close the loop: learn → configure → detect → prove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09960" y="6355080"/>
            <a:ext cx="502920" cy="228600"/>
          </a:xfrm>
          <a:prstGeom prst="rect">
            <a:avLst/>
          </a:prstGeom>
          <a:noFill/>
        </p:spPr>
        <p:txBody>
          <a:bodyPr wrap="none" lIns="36576" rIns="36576" tIns="27432" bIns="27432" anchor="t">
            <a:spAutoFit/>
          </a:bodyPr>
          <a:lstStyle/>
          <a:p>
            <a:pPr algn="r"/>
            <a:r>
              <a:rPr sz="1000" b="1">
                <a:solidFill>
                  <a:srgbClr val="AAB7CF"/>
                </a:solidFill>
                <a:latin typeface="Aptos"/>
              </a:rPr>
              <a:t>12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371600"/>
            <a:ext cx="3246120" cy="960120"/>
          </a:xfrm>
          <a:prstGeom prst="roundRect">
            <a:avLst/>
          </a:prstGeom>
          <a:solidFill>
            <a:srgbClr val="161F37"/>
          </a:solidFill>
          <a:ln>
            <a:solidFill>
              <a:srgbClr val="2BD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13232" y="1536192"/>
            <a:ext cx="914400" cy="256032"/>
          </a:xfrm>
          <a:prstGeom prst="rect">
            <a:avLst/>
          </a:prstGeom>
          <a:noFill/>
        </p:spPr>
        <p:txBody>
          <a:bodyPr wrap="none" lIns="36576" rIns="36576" tIns="27432" bIns="27432" anchor="t">
            <a:spAutoFit/>
          </a:bodyPr>
          <a:lstStyle/>
          <a:p>
            <a:pPr algn="l"/>
            <a:r>
              <a:rPr sz="1400" b="1">
                <a:solidFill>
                  <a:srgbClr val="2BD3FF"/>
                </a:solidFill>
                <a:latin typeface="Aptos"/>
              </a:rPr>
              <a:t>SOC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00200" y="1536192"/>
            <a:ext cx="1920240" cy="411480"/>
          </a:xfrm>
          <a:prstGeom prst="rect">
            <a:avLst/>
          </a:prstGeom>
          <a:noFill/>
        </p:spPr>
        <p:txBody>
          <a:bodyPr wrap="none" lIns="36576" rIns="36576" tIns="27432" bIns="27432" anchor="t">
            <a:spAutoFit/>
          </a:bodyPr>
          <a:lstStyle/>
          <a:p>
            <a:pPr algn="l"/>
            <a:r>
              <a:rPr sz="1250" b="1">
                <a:solidFill>
                  <a:srgbClr val="F5F8FF"/>
                </a:solidFill>
                <a:latin typeface="Aptos"/>
              </a:rPr>
              <a:t>Understand L1/L2/L3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43400" y="1371600"/>
            <a:ext cx="3246120" cy="960120"/>
          </a:xfrm>
          <a:prstGeom prst="roundRect">
            <a:avLst/>
          </a:prstGeom>
          <a:solidFill>
            <a:srgbClr val="161F37"/>
          </a:solidFill>
          <a:ln>
            <a:solidFill>
              <a:srgbClr val="4E7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07992" y="1536192"/>
            <a:ext cx="914400" cy="256032"/>
          </a:xfrm>
          <a:prstGeom prst="rect">
            <a:avLst/>
          </a:prstGeom>
          <a:noFill/>
        </p:spPr>
        <p:txBody>
          <a:bodyPr wrap="none" lIns="36576" rIns="36576" tIns="27432" bIns="27432" anchor="t">
            <a:spAutoFit/>
          </a:bodyPr>
          <a:lstStyle/>
          <a:p>
            <a:pPr algn="l"/>
            <a:r>
              <a:rPr sz="1400" b="1">
                <a:solidFill>
                  <a:srgbClr val="4E7EFF"/>
                </a:solidFill>
                <a:latin typeface="Aptos"/>
              </a:rPr>
              <a:t>LINUX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394960" y="1536192"/>
            <a:ext cx="1920240" cy="411480"/>
          </a:xfrm>
          <a:prstGeom prst="rect">
            <a:avLst/>
          </a:prstGeom>
          <a:noFill/>
        </p:spPr>
        <p:txBody>
          <a:bodyPr wrap="none" lIns="36576" rIns="36576" tIns="27432" bIns="27432" anchor="t">
            <a:spAutoFit/>
          </a:bodyPr>
          <a:lstStyle/>
          <a:p>
            <a:pPr algn="l"/>
            <a:r>
              <a:rPr sz="1250" b="1">
                <a:solidFill>
                  <a:srgbClr val="F5F8FF"/>
                </a:solidFill>
                <a:latin typeface="Aptos"/>
              </a:rPr>
              <a:t>Prepare the sensor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38160" y="1371600"/>
            <a:ext cx="3246120" cy="960120"/>
          </a:xfrm>
          <a:prstGeom prst="roundRect">
            <a:avLst/>
          </a:prstGeom>
          <a:solidFill>
            <a:srgbClr val="161F37"/>
          </a:solidFill>
          <a:ln>
            <a:solidFill>
              <a:srgbClr val="9D5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02752" y="1536192"/>
            <a:ext cx="914400" cy="256032"/>
          </a:xfrm>
          <a:prstGeom prst="rect">
            <a:avLst/>
          </a:prstGeom>
          <a:noFill/>
        </p:spPr>
        <p:txBody>
          <a:bodyPr wrap="none" lIns="36576" rIns="36576" tIns="27432" bIns="27432" anchor="t">
            <a:spAutoFit/>
          </a:bodyPr>
          <a:lstStyle/>
          <a:p>
            <a:pPr algn="l"/>
            <a:r>
              <a:rPr sz="1400" b="1">
                <a:solidFill>
                  <a:srgbClr val="9D5CFF"/>
                </a:solidFill>
                <a:latin typeface="Aptos"/>
              </a:rPr>
              <a:t>SNORT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89720" y="1536192"/>
            <a:ext cx="1920240" cy="411480"/>
          </a:xfrm>
          <a:prstGeom prst="rect">
            <a:avLst/>
          </a:prstGeom>
          <a:noFill/>
        </p:spPr>
        <p:txBody>
          <a:bodyPr wrap="none" lIns="36576" rIns="36576" tIns="27432" bIns="27432" anchor="t">
            <a:spAutoFit/>
          </a:bodyPr>
          <a:lstStyle/>
          <a:p>
            <a:pPr algn="l"/>
            <a:r>
              <a:rPr sz="1250" b="1">
                <a:solidFill>
                  <a:srgbClr val="F5F8FF"/>
                </a:solidFill>
                <a:latin typeface="Aptos"/>
              </a:rPr>
              <a:t>Install + validate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2697480"/>
            <a:ext cx="3246120" cy="960120"/>
          </a:xfrm>
          <a:prstGeom prst="roundRect">
            <a:avLst/>
          </a:prstGeom>
          <a:solidFill>
            <a:srgbClr val="161F37"/>
          </a:solidFill>
          <a:ln>
            <a:solidFill>
              <a:srgbClr val="FF52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13232" y="2862072"/>
            <a:ext cx="914400" cy="256032"/>
          </a:xfrm>
          <a:prstGeom prst="rect">
            <a:avLst/>
          </a:prstGeom>
          <a:noFill/>
        </p:spPr>
        <p:txBody>
          <a:bodyPr wrap="none" lIns="36576" rIns="36576" tIns="27432" bIns="27432" anchor="t">
            <a:spAutoFit/>
          </a:bodyPr>
          <a:lstStyle/>
          <a:p>
            <a:pPr algn="l"/>
            <a:r>
              <a:rPr sz="1400" b="1">
                <a:solidFill>
                  <a:srgbClr val="FF5299"/>
                </a:solidFill>
                <a:latin typeface="Aptos"/>
              </a:rPr>
              <a:t>RULES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00200" y="2862072"/>
            <a:ext cx="1920240" cy="411480"/>
          </a:xfrm>
          <a:prstGeom prst="rect">
            <a:avLst/>
          </a:prstGeom>
          <a:noFill/>
        </p:spPr>
        <p:txBody>
          <a:bodyPr wrap="none" lIns="36576" rIns="36576" tIns="27432" bIns="27432" anchor="t">
            <a:spAutoFit/>
          </a:bodyPr>
          <a:lstStyle/>
          <a:p>
            <a:pPr algn="l"/>
            <a:r>
              <a:rPr sz="1250" b="1">
                <a:solidFill>
                  <a:srgbClr val="F5F8FF"/>
                </a:solidFill>
                <a:latin typeface="Aptos"/>
              </a:rPr>
              <a:t>ICMP + HTTP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343400" y="2697480"/>
            <a:ext cx="3246120" cy="960120"/>
          </a:xfrm>
          <a:prstGeom prst="roundRect">
            <a:avLst/>
          </a:prstGeom>
          <a:solidFill>
            <a:srgbClr val="161F37"/>
          </a:solidFill>
          <a:ln>
            <a:solidFill>
              <a:srgbClr val="FFA9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07992" y="2862072"/>
            <a:ext cx="914400" cy="256032"/>
          </a:xfrm>
          <a:prstGeom prst="rect">
            <a:avLst/>
          </a:prstGeom>
          <a:noFill/>
        </p:spPr>
        <p:txBody>
          <a:bodyPr wrap="none" lIns="36576" rIns="36576" tIns="27432" bIns="27432" anchor="t">
            <a:spAutoFit/>
          </a:bodyPr>
          <a:lstStyle/>
          <a:p>
            <a:pPr algn="l"/>
            <a:r>
              <a:rPr sz="1400" b="1">
                <a:solidFill>
                  <a:srgbClr val="FFA94A"/>
                </a:solidFill>
                <a:latin typeface="Aptos"/>
              </a:rPr>
              <a:t>TEST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394960" y="2862072"/>
            <a:ext cx="1920240" cy="411480"/>
          </a:xfrm>
          <a:prstGeom prst="rect">
            <a:avLst/>
          </a:prstGeom>
          <a:noFill/>
        </p:spPr>
        <p:txBody>
          <a:bodyPr wrap="none" lIns="36576" rIns="36576" tIns="27432" bIns="27432" anchor="t">
            <a:spAutoFit/>
          </a:bodyPr>
          <a:lstStyle/>
          <a:p>
            <a:pPr algn="l"/>
            <a:r>
              <a:rPr sz="1250" b="1">
                <a:solidFill>
                  <a:srgbClr val="F5F8FF"/>
                </a:solidFill>
                <a:latin typeface="Aptos"/>
              </a:rPr>
              <a:t>Generate traffic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138160" y="2697480"/>
            <a:ext cx="3246120" cy="960120"/>
          </a:xfrm>
          <a:prstGeom prst="roundRect">
            <a:avLst/>
          </a:prstGeom>
          <a:solidFill>
            <a:srgbClr val="161F37"/>
          </a:solidFill>
          <a:ln>
            <a:solidFill>
              <a:srgbClr val="46DD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302752" y="2862072"/>
            <a:ext cx="914400" cy="256032"/>
          </a:xfrm>
          <a:prstGeom prst="rect">
            <a:avLst/>
          </a:prstGeom>
          <a:noFill/>
        </p:spPr>
        <p:txBody>
          <a:bodyPr wrap="none" lIns="36576" rIns="36576" tIns="27432" bIns="27432" anchor="t">
            <a:spAutoFit/>
          </a:bodyPr>
          <a:lstStyle/>
          <a:p>
            <a:pPr algn="l"/>
            <a:r>
              <a:rPr sz="1400" b="1">
                <a:solidFill>
                  <a:srgbClr val="46DD97"/>
                </a:solidFill>
                <a:latin typeface="Aptos"/>
              </a:rPr>
              <a:t>EVIDENCE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89720" y="2862072"/>
            <a:ext cx="1920240" cy="411480"/>
          </a:xfrm>
          <a:prstGeom prst="rect">
            <a:avLst/>
          </a:prstGeom>
          <a:noFill/>
        </p:spPr>
        <p:txBody>
          <a:bodyPr wrap="none" lIns="36576" rIns="36576" tIns="27432" bIns="27432" anchor="t">
            <a:spAutoFit/>
          </a:bodyPr>
          <a:lstStyle/>
          <a:p>
            <a:pPr algn="l"/>
            <a:r>
              <a:rPr sz="1250" b="1">
                <a:solidFill>
                  <a:srgbClr val="F5F8FF"/>
                </a:solidFill>
                <a:latin typeface="Aptos"/>
              </a:rPr>
              <a:t>Capture alerts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48640" y="4343400"/>
            <a:ext cx="7040880" cy="438912"/>
          </a:xfrm>
          <a:prstGeom prst="roundRect">
            <a:avLst/>
          </a:prstGeom>
          <a:solidFill>
            <a:srgbClr val="1B2642"/>
          </a:solidFill>
          <a:ln>
            <a:solidFill>
              <a:srgbClr val="1B26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548640" y="4343400"/>
            <a:ext cx="64008" cy="438912"/>
          </a:xfrm>
          <a:prstGeom prst="roundRect">
            <a:avLst/>
          </a:prstGeom>
          <a:solidFill>
            <a:srgbClr val="2BD3FF"/>
          </a:solidFill>
          <a:ln>
            <a:solidFill>
              <a:srgbClr val="2BD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13232" y="4407408"/>
            <a:ext cx="6812280" cy="256032"/>
          </a:xfrm>
          <a:prstGeom prst="rect">
            <a:avLst/>
          </a:prstGeom>
          <a:noFill/>
        </p:spPr>
        <p:txBody>
          <a:bodyPr wrap="none" lIns="36576" rIns="36576" tIns="27432" bIns="27432" anchor="t">
            <a:spAutoFit/>
          </a:bodyPr>
          <a:lstStyle/>
          <a:p>
            <a:pPr algn="l"/>
            <a:r>
              <a:rPr sz="1400" b="1">
                <a:solidFill>
                  <a:srgbClr val="F5F8FF"/>
                </a:solidFill>
                <a:latin typeface="Aptos"/>
              </a:rPr>
              <a:t>Submission checklist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2960" y="4892040"/>
            <a:ext cx="6492240" cy="1143000"/>
          </a:xfrm>
          <a:prstGeom prst="rect">
            <a:avLst/>
          </a:prstGeom>
          <a:noFill/>
        </p:spPr>
        <p:txBody>
          <a:bodyPr wrap="none" lIns="27432" rIns="27432">
            <a:spAutoFit/>
          </a:bodyPr>
          <a:lstStyle/>
          <a:p>
            <a:pPr>
              <a:spcAft>
                <a:spcPts val="700"/>
              </a:spcAft>
              <a:defRPr sz="1250">
                <a:solidFill>
                  <a:srgbClr val="AAB7CF"/>
                </a:solidFill>
                <a:latin typeface="Aptos"/>
              </a:defRPr>
            </a:pPr>
            <a:r>
              <a:t>• PDF report: 10+ pages</a:t>
            </a:r>
          </a:p>
          <a:p>
            <a:pPr>
              <a:spcAft>
                <a:spcPts val="700"/>
              </a:spcAft>
              <a:defRPr sz="1250">
                <a:solidFill>
                  <a:srgbClr val="AAB7CF"/>
                </a:solidFill>
                <a:latin typeface="Aptos"/>
              </a:defRPr>
            </a:pPr>
            <a:r>
              <a:t>• PPT: internship requirement says 5–8 slides</a:t>
            </a:r>
          </a:p>
          <a:p>
            <a:pPr>
              <a:spcAft>
                <a:spcPts val="700"/>
              </a:spcAft>
              <a:defRPr sz="1250">
                <a:solidFill>
                  <a:srgbClr val="AAB7CF"/>
                </a:solidFill>
                <a:latin typeface="Aptos"/>
              </a:defRPr>
            </a:pPr>
            <a:r>
              <a:t>• LinkedIn post: tag DG Interns Hub</a:t>
            </a:r>
          </a:p>
          <a:p>
            <a:pPr>
              <a:spcAft>
                <a:spcPts val="700"/>
              </a:spcAft>
              <a:defRPr sz="1250">
                <a:solidFill>
                  <a:srgbClr val="AAB7CF"/>
                </a:solidFill>
                <a:latin typeface="Aptos"/>
              </a:defRPr>
            </a:pPr>
            <a:r>
              <a:t>• Submit before 7 October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909560" y="4343400"/>
            <a:ext cx="3703320" cy="438912"/>
          </a:xfrm>
          <a:prstGeom prst="roundRect">
            <a:avLst/>
          </a:prstGeom>
          <a:solidFill>
            <a:srgbClr val="1B2642"/>
          </a:solidFill>
          <a:ln>
            <a:solidFill>
              <a:srgbClr val="1B26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7909560" y="4343400"/>
            <a:ext cx="64008" cy="438912"/>
          </a:xfrm>
          <a:prstGeom prst="roundRect">
            <a:avLst/>
          </a:prstGeom>
          <a:solidFill>
            <a:srgbClr val="FF5299"/>
          </a:solidFill>
          <a:ln>
            <a:solidFill>
              <a:srgbClr val="FF52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074152" y="4407408"/>
            <a:ext cx="3474720" cy="256032"/>
          </a:xfrm>
          <a:prstGeom prst="rect">
            <a:avLst/>
          </a:prstGeom>
          <a:noFill/>
        </p:spPr>
        <p:txBody>
          <a:bodyPr wrap="none" lIns="36576" rIns="36576" tIns="27432" bIns="27432" anchor="t">
            <a:spAutoFit/>
          </a:bodyPr>
          <a:lstStyle/>
          <a:p>
            <a:pPr algn="l"/>
            <a:r>
              <a:rPr sz="1400" b="1">
                <a:solidFill>
                  <a:srgbClr val="F5F8FF"/>
                </a:solidFill>
                <a:latin typeface="Aptos"/>
              </a:rPr>
              <a:t>Final message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183879" y="4892040"/>
            <a:ext cx="3154680" cy="960120"/>
          </a:xfrm>
          <a:prstGeom prst="rect">
            <a:avLst/>
          </a:prstGeom>
          <a:noFill/>
        </p:spPr>
        <p:txBody>
          <a:bodyPr wrap="none" lIns="36576" rIns="36576" tIns="27432" bIns="27432" anchor="t">
            <a:spAutoFit/>
          </a:bodyPr>
          <a:lstStyle/>
          <a:p>
            <a:pPr algn="l"/>
            <a:r>
              <a:rPr sz="1400" b="1">
                <a:solidFill>
                  <a:srgbClr val="F5F8FF"/>
                </a:solidFill>
                <a:latin typeface="Aptos"/>
              </a:rPr>
              <a:t>A SOC analyst does not just see an alert — they validate it, understand the traffic, document evidence and escalate when needed.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